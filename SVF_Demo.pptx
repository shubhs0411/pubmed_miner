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257" r:id="rId5"/>
    <p:sldId id="972" r:id="rId6"/>
    <p:sldId id="973" r:id="rId7"/>
    <p:sldId id="974" r:id="rId8"/>
    <p:sldId id="975" r:id="rId9"/>
    <p:sldId id="97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FACC0E-0B15-A709-06E7-9398B08CC20F}" name="McAvinue, Jessica" initials="JM" userId="S::jmcavinu@jcvi.ORG::3530fc94-61b4-4978-bdbc-02a0c319b566" providerId="AD"/>
  <p188:author id="{7E1F8593-EE45-A869-821F-14E7FB62A042}" name="McAvinue, Jessica" initials="MJ" userId="S::jmcavinu@jcvi.org::3530fc94-61b4-4978-bdbc-02a0c319b566" providerId="AD"/>
  <p188:author id="{F58547DF-BAFF-8641-29AE-1A30F60E561E}" name="Kowalski, Heather" initials="KH" userId="S::hkowalsk@jcvi.org::8b73ac45-4910-43a0-a339-217e2a4450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owalski, Heather" initials="KH" lastIdx="46" clrIdx="0">
    <p:extLst>
      <p:ext uri="{19B8F6BF-5375-455C-9EA6-DF929625EA0E}">
        <p15:presenceInfo xmlns:p15="http://schemas.microsoft.com/office/powerpoint/2012/main" userId="S::hkowalsk@jcvi.org::8b73ac45-4910-43a0-a339-217e2a445091" providerId="AD"/>
      </p:ext>
    </p:extLst>
  </p:cmAuthor>
  <p:cmAuthor id="2" name="Mullen, Jill" initials="MJ" lastIdx="60" clrIdx="1">
    <p:extLst>
      <p:ext uri="{19B8F6BF-5375-455C-9EA6-DF929625EA0E}">
        <p15:presenceInfo xmlns:p15="http://schemas.microsoft.com/office/powerpoint/2012/main" userId="S::jmullen@jcvi.org::ac671225-d984-438c-b675-d9bcf930d72e" providerId="AD"/>
      </p:ext>
    </p:extLst>
  </p:cmAuthor>
  <p:cmAuthor id="3" name="John Glass" initials="JG" lastIdx="1" clrIdx="2">
    <p:extLst>
      <p:ext uri="{19B8F6BF-5375-455C-9EA6-DF929625EA0E}">
        <p15:presenceInfo xmlns:p15="http://schemas.microsoft.com/office/powerpoint/2012/main" userId="John Glass" providerId="None"/>
      </p:ext>
    </p:extLst>
  </p:cmAuthor>
  <p:cmAuthor id="4" name="Chris Ross" initials="CR" lastIdx="7" clrIdx="3">
    <p:extLst>
      <p:ext uri="{19B8F6BF-5375-455C-9EA6-DF929625EA0E}">
        <p15:presenceInfo xmlns:p15="http://schemas.microsoft.com/office/powerpoint/2012/main" userId="S::cross@humanlongevity.com::9a076b54-5fe9-438e-b342-b3eeb6c0fa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E6F7"/>
    <a:srgbClr val="1F4460"/>
    <a:srgbClr val="408A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018"/>
  </p:normalViewPr>
  <p:slideViewPr>
    <p:cSldViewPr snapToGrid="0">
      <p:cViewPr varScale="1">
        <p:scale>
          <a:sx n="101" d="100"/>
          <a:sy n="101" d="100"/>
        </p:scale>
        <p:origin x="378" y="1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04C110-E6F1-034C-A5F6-086E62594B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013A6BF-2DCD-4645-8163-64B88CCD32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02C7E3-8469-A046-93C1-D28D215FE5C5}" type="datetimeFigureOut">
              <a:rPr lang="en-US" smtClean="0"/>
              <a:t>11/5/2025</a:t>
            </a:fld>
            <a:endParaRPr lang="en-US"/>
          </a:p>
        </p:txBody>
      </p:sp>
      <p:sp>
        <p:nvSpPr>
          <p:cNvPr id="4" name="Footer Placeholder 3">
            <a:extLst>
              <a:ext uri="{FF2B5EF4-FFF2-40B4-BE49-F238E27FC236}">
                <a16:creationId xmlns:a16="http://schemas.microsoft.com/office/drawing/2014/main" id="{54748509-B5FE-464A-8273-150EFFE0D9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5A5E4F-83B5-5549-888E-396C8133E4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CF9039-39AD-9E42-807D-7CABFC8A395F}" type="slidenum">
              <a:rPr lang="en-US" smtClean="0"/>
              <a:t>‹#›</a:t>
            </a:fld>
            <a:endParaRPr lang="en-US"/>
          </a:p>
        </p:txBody>
      </p:sp>
    </p:spTree>
    <p:extLst>
      <p:ext uri="{BB962C8B-B14F-4D97-AF65-F5344CB8AC3E}">
        <p14:creationId xmlns:p14="http://schemas.microsoft.com/office/powerpoint/2010/main" val="3893852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07EF09-5538-484F-B173-1D6FCC369743}" type="datetimeFigureOut">
              <a:rPr lang="en-US" smtClean="0"/>
              <a:pPr/>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19CCAF24-5711-AD47-B59F-A60188C455A2}" type="slidenum">
              <a:rPr lang="en-US" smtClean="0"/>
              <a:pPr/>
              <a:t>‹#›</a:t>
            </a:fld>
            <a:endParaRPr lang="en-US"/>
          </a:p>
        </p:txBody>
      </p:sp>
    </p:spTree>
    <p:extLst>
      <p:ext uri="{BB962C8B-B14F-4D97-AF65-F5344CB8AC3E}">
        <p14:creationId xmlns:p14="http://schemas.microsoft.com/office/powerpoint/2010/main" val="1836084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C23AC-568A-8840-930A-C1D83D98B08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EE4F59A2-085B-114F-9C12-C01C815E4F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78BD879-18A9-3C43-8F11-D93DC7623B9A}"/>
              </a:ext>
            </a:extLst>
          </p:cNvPr>
          <p:cNvSpPr>
            <a:spLocks noGrp="1"/>
          </p:cNvSpPr>
          <p:nvPr>
            <p:ph type="dt" sz="half" idx="10"/>
          </p:nvPr>
        </p:nvSpPr>
        <p:spPr/>
        <p:txBody>
          <a:bodyPr/>
          <a:lstStyle/>
          <a:p>
            <a:fld id="{21DF0F6D-D042-764C-ACDE-E68571F4C6F2}" type="datetime1">
              <a:rPr lang="en-US" smtClean="0"/>
              <a:t>11/5/2025</a:t>
            </a:fld>
            <a:endParaRPr lang="en-US"/>
          </a:p>
        </p:txBody>
      </p:sp>
      <p:sp>
        <p:nvSpPr>
          <p:cNvPr id="5" name="Footer Placeholder 4">
            <a:extLst>
              <a:ext uri="{FF2B5EF4-FFF2-40B4-BE49-F238E27FC236}">
                <a16:creationId xmlns:a16="http://schemas.microsoft.com/office/drawing/2014/main" id="{6591CC7A-8351-B84D-8055-3E683255D45C}"/>
              </a:ext>
            </a:extLst>
          </p:cNvPr>
          <p:cNvSpPr>
            <a:spLocks noGrp="1"/>
          </p:cNvSpPr>
          <p:nvPr>
            <p:ph type="ftr" sz="quarter" idx="11"/>
          </p:nvPr>
        </p:nvSpPr>
        <p:spPr/>
        <p:txBody>
          <a:bodyPr/>
          <a:lstStyle/>
          <a:p>
            <a:r>
              <a:rPr lang="en-US"/>
              <a:t>PIONEERING GENOMICS TO POSITIVELY IMPACT LIFE</a:t>
            </a:r>
          </a:p>
        </p:txBody>
      </p:sp>
      <p:sp>
        <p:nvSpPr>
          <p:cNvPr id="6" name="Slide Number Placeholder 5">
            <a:extLst>
              <a:ext uri="{FF2B5EF4-FFF2-40B4-BE49-F238E27FC236}">
                <a16:creationId xmlns:a16="http://schemas.microsoft.com/office/drawing/2014/main" id="{CADC95B8-9B9E-E84A-B5E9-0AA85EBFAA6E}"/>
              </a:ext>
            </a:extLst>
          </p:cNvPr>
          <p:cNvSpPr>
            <a:spLocks noGrp="1"/>
          </p:cNvSpPr>
          <p:nvPr>
            <p:ph type="sldNum" sz="quarter" idx="12"/>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1213468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F178-1AC2-CC48-B73B-553F022EC4F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7B218C4-EDF4-4145-9CA9-24D16F03E93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E30E10-1407-7941-8D25-0D689591E24C}"/>
              </a:ext>
            </a:extLst>
          </p:cNvPr>
          <p:cNvSpPr>
            <a:spLocks noGrp="1"/>
          </p:cNvSpPr>
          <p:nvPr>
            <p:ph type="dt" sz="half" idx="10"/>
          </p:nvPr>
        </p:nvSpPr>
        <p:spPr/>
        <p:txBody>
          <a:bodyPr/>
          <a:lstStyle/>
          <a:p>
            <a:fld id="{25A85107-1586-6945-A117-D87089A90F03}" type="datetime1">
              <a:rPr lang="en-US" smtClean="0"/>
              <a:t>11/5/2025</a:t>
            </a:fld>
            <a:endParaRPr lang="en-US"/>
          </a:p>
        </p:txBody>
      </p:sp>
      <p:sp>
        <p:nvSpPr>
          <p:cNvPr id="5" name="Footer Placeholder 4">
            <a:extLst>
              <a:ext uri="{FF2B5EF4-FFF2-40B4-BE49-F238E27FC236}">
                <a16:creationId xmlns:a16="http://schemas.microsoft.com/office/drawing/2014/main" id="{B4BE0413-49CD-454E-A05D-38262EC63533}"/>
              </a:ext>
            </a:extLst>
          </p:cNvPr>
          <p:cNvSpPr>
            <a:spLocks noGrp="1"/>
          </p:cNvSpPr>
          <p:nvPr>
            <p:ph type="ftr" sz="quarter" idx="11"/>
          </p:nvPr>
        </p:nvSpPr>
        <p:spPr/>
        <p:txBody>
          <a:bodyPr/>
          <a:lstStyle/>
          <a:p>
            <a:r>
              <a:rPr lang="en-US"/>
              <a:t>PIONEERING GENOMICS TO POSITIVELY IMPACT LIFE</a:t>
            </a:r>
          </a:p>
        </p:txBody>
      </p:sp>
      <p:sp>
        <p:nvSpPr>
          <p:cNvPr id="6" name="Slide Number Placeholder 5">
            <a:extLst>
              <a:ext uri="{FF2B5EF4-FFF2-40B4-BE49-F238E27FC236}">
                <a16:creationId xmlns:a16="http://schemas.microsoft.com/office/drawing/2014/main" id="{338682D6-971F-ED4A-86F9-505CC058B132}"/>
              </a:ext>
            </a:extLst>
          </p:cNvPr>
          <p:cNvSpPr>
            <a:spLocks noGrp="1"/>
          </p:cNvSpPr>
          <p:nvPr>
            <p:ph type="sldNum" sz="quarter" idx="12"/>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3957931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9049BB-07C9-9A4A-A325-A727412B1C01}"/>
              </a:ext>
            </a:extLst>
          </p:cNvPr>
          <p:cNvSpPr/>
          <p:nvPr userDrawn="1"/>
        </p:nvSpPr>
        <p:spPr>
          <a:xfrm>
            <a:off x="0" y="0"/>
            <a:ext cx="112745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Roboto" panose="02000000000000000000" pitchFamily="2" charset="0"/>
              <a:ea typeface="Roboto" panose="02000000000000000000" pitchFamily="2" charset="0"/>
            </a:endParaRPr>
          </a:p>
        </p:txBody>
      </p:sp>
      <p:sp>
        <p:nvSpPr>
          <p:cNvPr id="2" name="Title 1">
            <a:extLst>
              <a:ext uri="{FF2B5EF4-FFF2-40B4-BE49-F238E27FC236}">
                <a16:creationId xmlns:a16="http://schemas.microsoft.com/office/drawing/2014/main" id="{B5733B64-3313-BA4D-BB07-082AFF494A0D}"/>
              </a:ext>
            </a:extLst>
          </p:cNvPr>
          <p:cNvSpPr>
            <a:spLocks noGrp="1"/>
          </p:cNvSpPr>
          <p:nvPr>
            <p:ph type="title"/>
          </p:nvPr>
        </p:nvSpPr>
        <p:spPr>
          <a:xfrm>
            <a:off x="914400" y="914400"/>
            <a:ext cx="9445752" cy="2852737"/>
          </a:xfrm>
        </p:spPr>
        <p:txBody>
          <a:bodyPr anchor="t" anchorCtr="0"/>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239793CD-2835-914E-A555-32FB6AF1C527}"/>
              </a:ext>
            </a:extLst>
          </p:cNvPr>
          <p:cNvSpPr>
            <a:spLocks noGrp="1"/>
          </p:cNvSpPr>
          <p:nvPr>
            <p:ph type="body" idx="1"/>
          </p:nvPr>
        </p:nvSpPr>
        <p:spPr>
          <a:xfrm>
            <a:off x="914400" y="3944145"/>
            <a:ext cx="9445752" cy="13541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pic>
        <p:nvPicPr>
          <p:cNvPr id="11" name="Picture 10">
            <a:extLst>
              <a:ext uri="{FF2B5EF4-FFF2-40B4-BE49-F238E27FC236}">
                <a16:creationId xmlns:a16="http://schemas.microsoft.com/office/drawing/2014/main" id="{44B57554-E62C-8D47-8189-1B5B1CCC76C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18552" y="5513388"/>
            <a:ext cx="2976196" cy="457200"/>
          </a:xfrm>
          <a:prstGeom prst="rect">
            <a:avLst/>
          </a:prstGeom>
        </p:spPr>
      </p:pic>
      <p:sp>
        <p:nvSpPr>
          <p:cNvPr id="4" name="Date Placeholder 3">
            <a:extLst>
              <a:ext uri="{FF2B5EF4-FFF2-40B4-BE49-F238E27FC236}">
                <a16:creationId xmlns:a16="http://schemas.microsoft.com/office/drawing/2014/main" id="{0CADA059-07D7-CB4A-A218-0EBEF95CE404}"/>
              </a:ext>
            </a:extLst>
          </p:cNvPr>
          <p:cNvSpPr>
            <a:spLocks noGrp="1"/>
          </p:cNvSpPr>
          <p:nvPr>
            <p:ph type="dt" sz="half" idx="10"/>
          </p:nvPr>
        </p:nvSpPr>
        <p:spPr/>
        <p:txBody>
          <a:bodyPr/>
          <a:lstStyle/>
          <a:p>
            <a:fld id="{1623FC9C-F532-0B4C-90AF-DB52793D7D52}" type="datetime1">
              <a:rPr lang="en-US" smtClean="0"/>
              <a:t>11/5/2025</a:t>
            </a:fld>
            <a:endParaRPr lang="en-US"/>
          </a:p>
        </p:txBody>
      </p:sp>
      <p:sp>
        <p:nvSpPr>
          <p:cNvPr id="5" name="Footer Placeholder 4">
            <a:extLst>
              <a:ext uri="{FF2B5EF4-FFF2-40B4-BE49-F238E27FC236}">
                <a16:creationId xmlns:a16="http://schemas.microsoft.com/office/drawing/2014/main" id="{194F1B9C-EA02-EA4D-B481-9A6C88CC62C8}"/>
              </a:ext>
            </a:extLst>
          </p:cNvPr>
          <p:cNvSpPr>
            <a:spLocks noGrp="1"/>
          </p:cNvSpPr>
          <p:nvPr>
            <p:ph type="ftr" sz="quarter" idx="11"/>
          </p:nvPr>
        </p:nvSpPr>
        <p:spPr/>
        <p:txBody>
          <a:bodyPr/>
          <a:lstStyle/>
          <a:p>
            <a:r>
              <a:rPr lang="en-US"/>
              <a:t>PIONEERING GENOMICS TO POSITIVELY IMPACT LIFE</a:t>
            </a:r>
          </a:p>
        </p:txBody>
      </p:sp>
      <p:sp>
        <p:nvSpPr>
          <p:cNvPr id="6" name="Slide Number Placeholder 5">
            <a:extLst>
              <a:ext uri="{FF2B5EF4-FFF2-40B4-BE49-F238E27FC236}">
                <a16:creationId xmlns:a16="http://schemas.microsoft.com/office/drawing/2014/main" id="{830A0913-704C-DD47-9955-A323EBA87590}"/>
              </a:ext>
            </a:extLst>
          </p:cNvPr>
          <p:cNvSpPr>
            <a:spLocks noGrp="1"/>
          </p:cNvSpPr>
          <p:nvPr>
            <p:ph type="sldNum" sz="quarter" idx="12"/>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4042699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2A35-6542-3041-9ACB-4D499CDBFE7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31058A5-47A3-8E4B-BCD9-ED395AB62E4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9701D35-AC84-A641-9576-E40C14A3491E}"/>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A913A36-DE85-6146-BA04-04E6368B3062}"/>
              </a:ext>
            </a:extLst>
          </p:cNvPr>
          <p:cNvSpPr>
            <a:spLocks noGrp="1"/>
          </p:cNvSpPr>
          <p:nvPr>
            <p:ph type="dt" sz="half" idx="10"/>
          </p:nvPr>
        </p:nvSpPr>
        <p:spPr/>
        <p:txBody>
          <a:bodyPr/>
          <a:lstStyle/>
          <a:p>
            <a:fld id="{1816F8D2-76AB-6445-A21E-5DA4757E1546}" type="datetime1">
              <a:rPr lang="en-US" smtClean="0"/>
              <a:t>11/5/2025</a:t>
            </a:fld>
            <a:endParaRPr lang="en-US"/>
          </a:p>
        </p:txBody>
      </p:sp>
      <p:sp>
        <p:nvSpPr>
          <p:cNvPr id="6" name="Footer Placeholder 5">
            <a:extLst>
              <a:ext uri="{FF2B5EF4-FFF2-40B4-BE49-F238E27FC236}">
                <a16:creationId xmlns:a16="http://schemas.microsoft.com/office/drawing/2014/main" id="{82FF5537-D4B3-2E43-B7C1-4EF65589E970}"/>
              </a:ext>
            </a:extLst>
          </p:cNvPr>
          <p:cNvSpPr>
            <a:spLocks noGrp="1"/>
          </p:cNvSpPr>
          <p:nvPr>
            <p:ph type="ftr" sz="quarter" idx="11"/>
          </p:nvPr>
        </p:nvSpPr>
        <p:spPr/>
        <p:txBody>
          <a:bodyPr/>
          <a:lstStyle/>
          <a:p>
            <a:r>
              <a:rPr lang="en-US"/>
              <a:t>PIONEERING GENOMICS TO POSITIVELY IMPACT LIFE</a:t>
            </a:r>
          </a:p>
        </p:txBody>
      </p:sp>
      <p:sp>
        <p:nvSpPr>
          <p:cNvPr id="7" name="Slide Number Placeholder 6">
            <a:extLst>
              <a:ext uri="{FF2B5EF4-FFF2-40B4-BE49-F238E27FC236}">
                <a16:creationId xmlns:a16="http://schemas.microsoft.com/office/drawing/2014/main" id="{29F89018-B4DA-3A4B-BD28-1E54C7903483}"/>
              </a:ext>
            </a:extLst>
          </p:cNvPr>
          <p:cNvSpPr>
            <a:spLocks noGrp="1"/>
          </p:cNvSpPr>
          <p:nvPr>
            <p:ph type="sldNum" sz="quarter" idx="12"/>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161608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58FE-915D-A044-96B5-D5D5551C0D71}"/>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5573A03-DE05-A149-8974-3828A7631B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07A245D-F77B-7F44-A0BC-A6D3D6F9825C}"/>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07FAC9E-214E-534B-B409-4BF1F04891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3FD31E8-EB97-E342-8359-4F5AA7F22EAD}"/>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F26DA6E-B084-7A4D-9C04-C6ACB181281F}"/>
              </a:ext>
            </a:extLst>
          </p:cNvPr>
          <p:cNvSpPr>
            <a:spLocks noGrp="1"/>
          </p:cNvSpPr>
          <p:nvPr>
            <p:ph type="dt" sz="half" idx="10"/>
          </p:nvPr>
        </p:nvSpPr>
        <p:spPr/>
        <p:txBody>
          <a:bodyPr/>
          <a:lstStyle/>
          <a:p>
            <a:fld id="{ED85A4BB-71F5-C74E-86BE-66A37C89E61D}" type="datetime1">
              <a:rPr lang="en-US" smtClean="0"/>
              <a:t>11/5/2025</a:t>
            </a:fld>
            <a:endParaRPr lang="en-US"/>
          </a:p>
        </p:txBody>
      </p:sp>
      <p:sp>
        <p:nvSpPr>
          <p:cNvPr id="8" name="Footer Placeholder 7">
            <a:extLst>
              <a:ext uri="{FF2B5EF4-FFF2-40B4-BE49-F238E27FC236}">
                <a16:creationId xmlns:a16="http://schemas.microsoft.com/office/drawing/2014/main" id="{B5D6586E-CCEE-D84C-B63A-9E0725D09128}"/>
              </a:ext>
            </a:extLst>
          </p:cNvPr>
          <p:cNvSpPr>
            <a:spLocks noGrp="1"/>
          </p:cNvSpPr>
          <p:nvPr>
            <p:ph type="ftr" sz="quarter" idx="11"/>
          </p:nvPr>
        </p:nvSpPr>
        <p:spPr/>
        <p:txBody>
          <a:bodyPr/>
          <a:lstStyle/>
          <a:p>
            <a:r>
              <a:rPr lang="en-US"/>
              <a:t>PIONEERING GENOMICS TO POSITIVELY IMPACT LIFE</a:t>
            </a:r>
          </a:p>
        </p:txBody>
      </p:sp>
      <p:sp>
        <p:nvSpPr>
          <p:cNvPr id="9" name="Slide Number Placeholder 8">
            <a:extLst>
              <a:ext uri="{FF2B5EF4-FFF2-40B4-BE49-F238E27FC236}">
                <a16:creationId xmlns:a16="http://schemas.microsoft.com/office/drawing/2014/main" id="{8E5B1DF8-FA8F-EB4F-AD3F-E10346A3A3A4}"/>
              </a:ext>
            </a:extLst>
          </p:cNvPr>
          <p:cNvSpPr>
            <a:spLocks noGrp="1"/>
          </p:cNvSpPr>
          <p:nvPr>
            <p:ph type="sldNum" sz="quarter" idx="12"/>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3018624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44C1A-0B09-A143-B36E-B03C591A853B}"/>
              </a:ext>
            </a:extLst>
          </p:cNvPr>
          <p:cNvSpPr>
            <a:spLocks noGrp="1"/>
          </p:cNvSpPr>
          <p:nvPr>
            <p:ph type="title"/>
          </p:nvPr>
        </p:nvSpPr>
        <p:spPr/>
        <p:txBody>
          <a:bodyPr/>
          <a:lstStyle>
            <a:lvl1pPr>
              <a:defRPr>
                <a:latin typeface="Roboto" panose="02000000000000000000" pitchFamily="2" charset="0"/>
                <a:ea typeface="Roboto" panose="02000000000000000000" pitchFamily="2"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id="{8F902085-DBE1-8749-A9E2-BC5D998AF97A}"/>
              </a:ext>
            </a:extLst>
          </p:cNvPr>
          <p:cNvSpPr>
            <a:spLocks noGrp="1"/>
          </p:cNvSpPr>
          <p:nvPr>
            <p:ph type="dt" sz="half" idx="10"/>
          </p:nvPr>
        </p:nvSpPr>
        <p:spPr/>
        <p:txBody>
          <a:bodyPr/>
          <a:lstStyle/>
          <a:p>
            <a:fld id="{7D93DC68-2FB5-D549-8E14-B96AA5039CFF}" type="datetime1">
              <a:rPr lang="en-US" smtClean="0"/>
              <a:t>11/5/2025</a:t>
            </a:fld>
            <a:endParaRPr lang="en-US"/>
          </a:p>
        </p:txBody>
      </p:sp>
      <p:sp>
        <p:nvSpPr>
          <p:cNvPr id="4" name="Footer Placeholder 3">
            <a:extLst>
              <a:ext uri="{FF2B5EF4-FFF2-40B4-BE49-F238E27FC236}">
                <a16:creationId xmlns:a16="http://schemas.microsoft.com/office/drawing/2014/main" id="{5EC637CD-CAA7-6B4B-8C50-7B5AEE32AA1D}"/>
              </a:ext>
            </a:extLst>
          </p:cNvPr>
          <p:cNvSpPr>
            <a:spLocks noGrp="1"/>
          </p:cNvSpPr>
          <p:nvPr>
            <p:ph type="ftr" sz="quarter" idx="11"/>
          </p:nvPr>
        </p:nvSpPr>
        <p:spPr/>
        <p:txBody>
          <a:bodyPr/>
          <a:lstStyle/>
          <a:p>
            <a:r>
              <a:rPr lang="en-US"/>
              <a:t>PIONEERING GENOMICS TO POSITIVELY IMPACT LIFE</a:t>
            </a:r>
          </a:p>
        </p:txBody>
      </p:sp>
      <p:sp>
        <p:nvSpPr>
          <p:cNvPr id="5" name="Slide Number Placeholder 4">
            <a:extLst>
              <a:ext uri="{FF2B5EF4-FFF2-40B4-BE49-F238E27FC236}">
                <a16:creationId xmlns:a16="http://schemas.microsoft.com/office/drawing/2014/main" id="{5C5E6612-BC4A-1F43-8C88-45FE19C7C2BA}"/>
              </a:ext>
            </a:extLst>
          </p:cNvPr>
          <p:cNvSpPr>
            <a:spLocks noGrp="1"/>
          </p:cNvSpPr>
          <p:nvPr>
            <p:ph type="sldNum" sz="quarter" idx="12"/>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1339066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377F00-B494-304D-A663-AC72637A3ACD}"/>
              </a:ext>
            </a:extLst>
          </p:cNvPr>
          <p:cNvSpPr>
            <a:spLocks noGrp="1"/>
          </p:cNvSpPr>
          <p:nvPr>
            <p:ph type="dt" sz="half" idx="10"/>
          </p:nvPr>
        </p:nvSpPr>
        <p:spPr/>
        <p:txBody>
          <a:bodyPr/>
          <a:lstStyle/>
          <a:p>
            <a:fld id="{C47C49D7-5EA3-5C4D-AFC2-8DD6F73EF7F6}" type="datetime1">
              <a:rPr lang="en-US" smtClean="0"/>
              <a:t>11/5/2025</a:t>
            </a:fld>
            <a:endParaRPr lang="en-US"/>
          </a:p>
        </p:txBody>
      </p:sp>
      <p:sp>
        <p:nvSpPr>
          <p:cNvPr id="3" name="Footer Placeholder 2">
            <a:extLst>
              <a:ext uri="{FF2B5EF4-FFF2-40B4-BE49-F238E27FC236}">
                <a16:creationId xmlns:a16="http://schemas.microsoft.com/office/drawing/2014/main" id="{F2AD541B-01CD-AC41-84F9-B4DB20ACE697}"/>
              </a:ext>
            </a:extLst>
          </p:cNvPr>
          <p:cNvSpPr>
            <a:spLocks noGrp="1"/>
          </p:cNvSpPr>
          <p:nvPr>
            <p:ph type="ftr" sz="quarter" idx="11"/>
          </p:nvPr>
        </p:nvSpPr>
        <p:spPr/>
        <p:txBody>
          <a:bodyPr/>
          <a:lstStyle/>
          <a:p>
            <a:r>
              <a:rPr lang="en-US"/>
              <a:t>PIONEERING GENOMICS TO POSITIVELY IMPACT LIFE</a:t>
            </a:r>
          </a:p>
        </p:txBody>
      </p:sp>
      <p:sp>
        <p:nvSpPr>
          <p:cNvPr id="4" name="Slide Number Placeholder 3">
            <a:extLst>
              <a:ext uri="{FF2B5EF4-FFF2-40B4-BE49-F238E27FC236}">
                <a16:creationId xmlns:a16="http://schemas.microsoft.com/office/drawing/2014/main" id="{6431C66D-0DAD-E949-8AB6-9CC87FD5715C}"/>
              </a:ext>
            </a:extLst>
          </p:cNvPr>
          <p:cNvSpPr>
            <a:spLocks noGrp="1"/>
          </p:cNvSpPr>
          <p:nvPr>
            <p:ph type="sldNum" sz="quarter" idx="12"/>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3207906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F178-1AC2-CC48-B73B-553F022EC4F3}"/>
              </a:ext>
            </a:extLst>
          </p:cNvPr>
          <p:cNvSpPr>
            <a:spLocks noGrp="1"/>
          </p:cNvSpPr>
          <p:nvPr>
            <p:ph type="title"/>
          </p:nvPr>
        </p:nvSpPr>
        <p:spPr>
          <a:xfrm>
            <a:off x="914400" y="914399"/>
            <a:ext cx="5486400" cy="137160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7B218C4-EDF4-4145-9CA9-24D16F03E93E}"/>
              </a:ext>
            </a:extLst>
          </p:cNvPr>
          <p:cNvSpPr>
            <a:spLocks noGrp="1"/>
          </p:cNvSpPr>
          <p:nvPr>
            <p:ph idx="1"/>
          </p:nvPr>
        </p:nvSpPr>
        <p:spPr>
          <a:xfrm>
            <a:off x="914400" y="2514600"/>
            <a:ext cx="5486400" cy="3657600"/>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oup 9">
            <a:extLst>
              <a:ext uri="{FF2B5EF4-FFF2-40B4-BE49-F238E27FC236}">
                <a16:creationId xmlns:a16="http://schemas.microsoft.com/office/drawing/2014/main" id="{7508E490-C011-D543-8A18-572E02795C2B}"/>
              </a:ext>
            </a:extLst>
          </p:cNvPr>
          <p:cNvGrpSpPr/>
          <p:nvPr userDrawn="1"/>
        </p:nvGrpSpPr>
        <p:grpSpPr>
          <a:xfrm>
            <a:off x="362545" y="2619532"/>
            <a:ext cx="246223" cy="1426563"/>
            <a:chOff x="362545" y="2619532"/>
            <a:chExt cx="246223" cy="1426563"/>
          </a:xfrm>
        </p:grpSpPr>
        <p:sp>
          <p:nvSpPr>
            <p:cNvPr id="11" name="Rectangle 10">
              <a:extLst>
                <a:ext uri="{FF2B5EF4-FFF2-40B4-BE49-F238E27FC236}">
                  <a16:creationId xmlns:a16="http://schemas.microsoft.com/office/drawing/2014/main" id="{428E8A7D-1E42-BE4F-817C-82E6BD7CD905}"/>
                </a:ext>
              </a:extLst>
            </p:cNvPr>
            <p:cNvSpPr/>
            <p:nvPr/>
          </p:nvSpPr>
          <p:spPr>
            <a:xfrm rot="16200000">
              <a:off x="-211809" y="3225517"/>
              <a:ext cx="1394934" cy="246221"/>
            </a:xfrm>
            <a:prstGeom prst="rect">
              <a:avLst/>
            </a:prstGeom>
          </p:spPr>
          <p:txBody>
            <a:bodyPr wrap="none">
              <a:spAutoFit/>
            </a:bodyPr>
            <a:lstStyle/>
            <a:p>
              <a:pPr lvl="0">
                <a:defRPr/>
              </a:pPr>
              <a:r>
                <a:rPr lang="en-US" sz="1000" b="1">
                  <a:solidFill>
                    <a:sysClr val="windowText" lastClr="000000"/>
                  </a:solidFill>
                </a:rPr>
                <a:t>RESEARCH GOALS</a:t>
              </a:r>
            </a:p>
          </p:txBody>
        </p:sp>
        <p:cxnSp>
          <p:nvCxnSpPr>
            <p:cNvPr id="12" name="Straight Connector 11">
              <a:extLst>
                <a:ext uri="{FF2B5EF4-FFF2-40B4-BE49-F238E27FC236}">
                  <a16:creationId xmlns:a16="http://schemas.microsoft.com/office/drawing/2014/main" id="{5F588FEA-0F44-DE47-B915-7D51FE6E976C}"/>
                </a:ext>
              </a:extLst>
            </p:cNvPr>
            <p:cNvCxnSpPr/>
            <p:nvPr/>
          </p:nvCxnSpPr>
          <p:spPr>
            <a:xfrm>
              <a:off x="362545" y="2619532"/>
              <a:ext cx="2462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Text Placeholder 4">
            <a:extLst>
              <a:ext uri="{FF2B5EF4-FFF2-40B4-BE49-F238E27FC236}">
                <a16:creationId xmlns:a16="http://schemas.microsoft.com/office/drawing/2014/main" id="{D16D8B16-FF66-EA43-A857-C270540C008B}"/>
              </a:ext>
            </a:extLst>
          </p:cNvPr>
          <p:cNvSpPr>
            <a:spLocks noGrp="1"/>
          </p:cNvSpPr>
          <p:nvPr>
            <p:ph type="body" sz="quarter" idx="13"/>
          </p:nvPr>
        </p:nvSpPr>
        <p:spPr>
          <a:xfrm>
            <a:off x="6861046" y="3429000"/>
            <a:ext cx="4416552" cy="3429000"/>
          </a:xfrm>
          <a:solidFill>
            <a:schemeClr val="tx1"/>
          </a:solidFill>
          <a:ln>
            <a:noFill/>
          </a:ln>
        </p:spPr>
        <p:txBody>
          <a:bodyPr lIns="457200" tIns="457200" rIns="457200" bIns="457200"/>
          <a:lstStyle>
            <a:lvl1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1pPr>
            <a:lvl2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2pPr>
            <a:lvl3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3pPr>
            <a:lvl4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4pPr>
            <a:lvl5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15">
            <a:extLst>
              <a:ext uri="{FF2B5EF4-FFF2-40B4-BE49-F238E27FC236}">
                <a16:creationId xmlns:a16="http://schemas.microsoft.com/office/drawing/2014/main" id="{8277EF09-2014-2449-88A0-5AD31BAB34C1}"/>
              </a:ext>
            </a:extLst>
          </p:cNvPr>
          <p:cNvSpPr>
            <a:spLocks noGrp="1"/>
          </p:cNvSpPr>
          <p:nvPr>
            <p:ph type="pic" sz="quarter" idx="14"/>
          </p:nvPr>
        </p:nvSpPr>
        <p:spPr>
          <a:xfrm>
            <a:off x="6861046" y="0"/>
            <a:ext cx="4416552" cy="3429000"/>
          </a:xfrm>
        </p:spPr>
        <p:txBody>
          <a:bodyPr/>
          <a:lstStyle/>
          <a:p>
            <a:endParaRPr lang="en-US"/>
          </a:p>
        </p:txBody>
      </p:sp>
      <p:sp>
        <p:nvSpPr>
          <p:cNvPr id="19" name="Text Placeholder 18">
            <a:extLst>
              <a:ext uri="{FF2B5EF4-FFF2-40B4-BE49-F238E27FC236}">
                <a16:creationId xmlns:a16="http://schemas.microsoft.com/office/drawing/2014/main" id="{E8D7399E-310B-BA4B-8D07-DECA50EADA06}"/>
              </a:ext>
            </a:extLst>
          </p:cNvPr>
          <p:cNvSpPr>
            <a:spLocks noGrp="1"/>
          </p:cNvSpPr>
          <p:nvPr>
            <p:ph type="body" sz="quarter" idx="15"/>
          </p:nvPr>
        </p:nvSpPr>
        <p:spPr>
          <a:xfrm>
            <a:off x="914400" y="16187"/>
            <a:ext cx="3421449" cy="466344"/>
          </a:xfrm>
          <a:solidFill>
            <a:schemeClr val="tx2"/>
          </a:solidFill>
        </p:spPr>
        <p:txBody>
          <a:bodyPr wrap="none" lIns="182880" tIns="91440" rIns="182880" bIns="91440" anchor="ctr" anchorCtr="0">
            <a:noAutofit/>
          </a:bodyPr>
          <a:lstStyle>
            <a:lvl1pPr marL="0" indent="0" algn="l" defTabSz="914400" rtl="0" eaLnBrk="1" latinLnBrk="0" hangingPunct="1">
              <a:buNone/>
              <a:defRPr lang="en-US" sz="1800" b="1" kern="1200" dirty="0" smtClean="0">
                <a:solidFill>
                  <a:schemeClr val="bg1"/>
                </a:solidFill>
                <a:latin typeface="Roboto" panose="02000000000000000000" pitchFamily="2" charset="0"/>
                <a:ea typeface="Roboto" panose="02000000000000000000" pitchFamily="2" charset="0"/>
                <a:cs typeface="+mn-cs"/>
              </a:defRPr>
            </a:lvl1pPr>
            <a:lvl2pPr marL="228600" indent="0" algn="l" defTabSz="914400" rtl="0" eaLnBrk="1" latinLnBrk="0" hangingPunct="1">
              <a:buNone/>
              <a:defRPr lang="en-US" sz="1200" b="1" kern="1200" dirty="0" smtClean="0">
                <a:solidFill>
                  <a:schemeClr val="bg1"/>
                </a:solidFill>
                <a:latin typeface="+mn-lt"/>
                <a:ea typeface="+mn-ea"/>
                <a:cs typeface="+mn-cs"/>
              </a:defRPr>
            </a:lvl2pPr>
            <a:lvl3pPr marL="0" algn="l" defTabSz="914400" rtl="0" eaLnBrk="1" latinLnBrk="0" hangingPunct="1">
              <a:defRPr lang="en-US" sz="1200" b="1" kern="1200" dirty="0" smtClean="0">
                <a:solidFill>
                  <a:schemeClr val="bg1"/>
                </a:solidFill>
                <a:latin typeface="+mn-lt"/>
                <a:ea typeface="+mn-ea"/>
                <a:cs typeface="+mn-cs"/>
              </a:defRPr>
            </a:lvl3pPr>
            <a:lvl4pPr marL="0" algn="l" defTabSz="914400" rtl="0" eaLnBrk="1" latinLnBrk="0" hangingPunct="1">
              <a:defRPr lang="en-US" sz="1200" b="1" kern="1200" dirty="0" smtClean="0">
                <a:solidFill>
                  <a:schemeClr val="bg1"/>
                </a:solidFill>
                <a:latin typeface="+mn-lt"/>
                <a:ea typeface="+mn-ea"/>
                <a:cs typeface="+mn-cs"/>
              </a:defRPr>
            </a:lvl4pPr>
            <a:lvl5pPr marL="0" algn="l" defTabSz="914400" rtl="0" eaLnBrk="1" latinLnBrk="0" hangingPunct="1">
              <a:defRPr lang="en-US" sz="1200" b="1" kern="1200" dirty="0">
                <a:solidFill>
                  <a:schemeClr val="bg1"/>
                </a:solidFill>
                <a:latin typeface="+mn-lt"/>
                <a:ea typeface="+mn-ea"/>
                <a:cs typeface="+mn-cs"/>
              </a:defRPr>
            </a:lvl5pPr>
          </a:lstStyle>
          <a:p>
            <a:pPr marL="0" lvl="0"/>
            <a:r>
              <a:rPr lang="en-US" dirty="0"/>
              <a:t>Click to edit Master text styles</a:t>
            </a:r>
          </a:p>
        </p:txBody>
      </p:sp>
      <p:sp>
        <p:nvSpPr>
          <p:cNvPr id="4" name="Date Placeholder 3">
            <a:extLst>
              <a:ext uri="{FF2B5EF4-FFF2-40B4-BE49-F238E27FC236}">
                <a16:creationId xmlns:a16="http://schemas.microsoft.com/office/drawing/2014/main" id="{522F52D9-062B-604A-BE56-4CFD40A02A08}"/>
              </a:ext>
            </a:extLst>
          </p:cNvPr>
          <p:cNvSpPr>
            <a:spLocks noGrp="1"/>
          </p:cNvSpPr>
          <p:nvPr>
            <p:ph type="dt" sz="half" idx="16"/>
          </p:nvPr>
        </p:nvSpPr>
        <p:spPr/>
        <p:txBody>
          <a:bodyPr/>
          <a:lstStyle/>
          <a:p>
            <a:fld id="{783372EC-FA56-4041-836D-C583E56ED01C}" type="datetime1">
              <a:rPr lang="en-US" smtClean="0"/>
              <a:t>11/5/2025</a:t>
            </a:fld>
            <a:endParaRPr lang="en-US"/>
          </a:p>
        </p:txBody>
      </p:sp>
      <p:sp>
        <p:nvSpPr>
          <p:cNvPr id="6" name="Footer Placeholder 5">
            <a:extLst>
              <a:ext uri="{FF2B5EF4-FFF2-40B4-BE49-F238E27FC236}">
                <a16:creationId xmlns:a16="http://schemas.microsoft.com/office/drawing/2014/main" id="{86C11F04-708D-EA45-8B05-2D3ACD0CDB15}"/>
              </a:ext>
            </a:extLst>
          </p:cNvPr>
          <p:cNvSpPr>
            <a:spLocks noGrp="1"/>
          </p:cNvSpPr>
          <p:nvPr>
            <p:ph type="ftr" sz="quarter" idx="17"/>
          </p:nvPr>
        </p:nvSpPr>
        <p:spPr/>
        <p:txBody>
          <a:bodyPr/>
          <a:lstStyle/>
          <a:p>
            <a:r>
              <a:rPr lang="en-US"/>
              <a:t>PIONEERING GENOMICS TO POSITIVELY IMPACT LIFE</a:t>
            </a:r>
          </a:p>
        </p:txBody>
      </p:sp>
      <p:sp>
        <p:nvSpPr>
          <p:cNvPr id="13" name="Slide Number Placeholder 12">
            <a:extLst>
              <a:ext uri="{FF2B5EF4-FFF2-40B4-BE49-F238E27FC236}">
                <a16:creationId xmlns:a16="http://schemas.microsoft.com/office/drawing/2014/main" id="{40DC9841-7816-2B42-AE3D-7D5D66745A8A}"/>
              </a:ext>
            </a:extLst>
          </p:cNvPr>
          <p:cNvSpPr>
            <a:spLocks noGrp="1"/>
          </p:cNvSpPr>
          <p:nvPr>
            <p:ph type="sldNum" sz="quarter" idx="18"/>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3378331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F178-1AC2-CC48-B73B-553F022EC4F3}"/>
              </a:ext>
            </a:extLst>
          </p:cNvPr>
          <p:cNvSpPr>
            <a:spLocks noGrp="1"/>
          </p:cNvSpPr>
          <p:nvPr>
            <p:ph type="title"/>
          </p:nvPr>
        </p:nvSpPr>
        <p:spPr>
          <a:xfrm>
            <a:off x="914400" y="914399"/>
            <a:ext cx="5486400" cy="1371600"/>
          </a:xfrm>
        </p:spPr>
        <p:txBody>
          <a:bodyPr>
            <a:normAutofit/>
          </a:bodyPr>
          <a:lstStyle>
            <a:lvl1pPr>
              <a:defRPr sz="2800" b="1"/>
            </a:lvl1pPr>
          </a:lstStyle>
          <a:p>
            <a:r>
              <a:rPr lang="en-US"/>
              <a:t>Click to edit Master title style</a:t>
            </a:r>
          </a:p>
        </p:txBody>
      </p:sp>
      <p:sp>
        <p:nvSpPr>
          <p:cNvPr id="3" name="Content Placeholder 2">
            <a:extLst>
              <a:ext uri="{FF2B5EF4-FFF2-40B4-BE49-F238E27FC236}">
                <a16:creationId xmlns:a16="http://schemas.microsoft.com/office/drawing/2014/main" id="{A7B218C4-EDF4-4145-9CA9-24D16F03E93E}"/>
              </a:ext>
            </a:extLst>
          </p:cNvPr>
          <p:cNvSpPr>
            <a:spLocks noGrp="1"/>
          </p:cNvSpPr>
          <p:nvPr>
            <p:ph idx="1"/>
          </p:nvPr>
        </p:nvSpPr>
        <p:spPr>
          <a:xfrm>
            <a:off x="914400" y="2057400"/>
            <a:ext cx="5486400" cy="4114800"/>
          </a:xfrm>
        </p:spPr>
        <p:txBody>
          <a:bodyPr>
            <a:normAutofit/>
          </a:bodyPr>
          <a:lstStyle>
            <a:lvl1pPr>
              <a:lnSpc>
                <a:spcPct val="100000"/>
              </a:lnSpc>
              <a:defRPr sz="20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8B16-FF66-EA43-A857-C270540C008B}"/>
              </a:ext>
            </a:extLst>
          </p:cNvPr>
          <p:cNvSpPr>
            <a:spLocks noGrp="1"/>
          </p:cNvSpPr>
          <p:nvPr>
            <p:ph type="body" sz="quarter" idx="13"/>
          </p:nvPr>
        </p:nvSpPr>
        <p:spPr>
          <a:xfrm>
            <a:off x="6861046" y="3429000"/>
            <a:ext cx="4416552" cy="3429000"/>
          </a:xfrm>
          <a:solidFill>
            <a:schemeClr val="tx1"/>
          </a:solidFill>
          <a:ln>
            <a:noFill/>
          </a:ln>
        </p:spPr>
        <p:txBody>
          <a:bodyPr lIns="457200" tIns="457200" rIns="457200" bIns="457200"/>
          <a:lstStyle>
            <a:lvl1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1pPr>
            <a:lvl2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2pPr>
            <a:lvl3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3pPr>
            <a:lvl4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4pPr>
            <a:lvl5pPr marL="285750" indent="-285750" algn="l" defTabSz="914400" rtl="0" eaLnBrk="1" latinLnBrk="0" hangingPunct="1">
              <a:buFont typeface="Wingdings" pitchFamily="2" charset="2"/>
              <a:buChar char="§"/>
              <a:defRPr lang="en-US" sz="1800" kern="1200" dirty="0" smtClean="0">
                <a:solidFill>
                  <a:prstClr val="white"/>
                </a:solidFill>
                <a:latin typeface="Roboto" panose="02000000000000000000" pitchFamily="2" charset="0"/>
                <a:ea typeface="Roboto" panose="02000000000000000000"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15">
            <a:extLst>
              <a:ext uri="{FF2B5EF4-FFF2-40B4-BE49-F238E27FC236}">
                <a16:creationId xmlns:a16="http://schemas.microsoft.com/office/drawing/2014/main" id="{8277EF09-2014-2449-88A0-5AD31BAB34C1}"/>
              </a:ext>
            </a:extLst>
          </p:cNvPr>
          <p:cNvSpPr>
            <a:spLocks noGrp="1"/>
          </p:cNvSpPr>
          <p:nvPr>
            <p:ph type="pic" sz="quarter" idx="14"/>
          </p:nvPr>
        </p:nvSpPr>
        <p:spPr>
          <a:xfrm>
            <a:off x="6861046" y="0"/>
            <a:ext cx="4416552" cy="3429000"/>
          </a:xfrm>
        </p:spPr>
        <p:txBody>
          <a:bodyPr/>
          <a:lstStyle/>
          <a:p>
            <a:endParaRPr lang="en-US"/>
          </a:p>
        </p:txBody>
      </p:sp>
      <p:sp>
        <p:nvSpPr>
          <p:cNvPr id="19" name="Text Placeholder 18">
            <a:extLst>
              <a:ext uri="{FF2B5EF4-FFF2-40B4-BE49-F238E27FC236}">
                <a16:creationId xmlns:a16="http://schemas.microsoft.com/office/drawing/2014/main" id="{E8D7399E-310B-BA4B-8D07-DECA50EADA06}"/>
              </a:ext>
            </a:extLst>
          </p:cNvPr>
          <p:cNvSpPr>
            <a:spLocks noGrp="1"/>
          </p:cNvSpPr>
          <p:nvPr>
            <p:ph type="body" sz="quarter" idx="15"/>
          </p:nvPr>
        </p:nvSpPr>
        <p:spPr>
          <a:xfrm>
            <a:off x="914400" y="-2"/>
            <a:ext cx="3643745" cy="452432"/>
          </a:xfrm>
          <a:solidFill>
            <a:schemeClr val="accent1"/>
          </a:solidFill>
        </p:spPr>
        <p:txBody>
          <a:bodyPr wrap="square" lIns="182880" tIns="109728" rIns="182880" bIns="91440" anchor="t" anchorCtr="0">
            <a:spAutoFit/>
          </a:bodyPr>
          <a:lstStyle>
            <a:lvl1pPr marL="0" indent="0" algn="l" defTabSz="914400" rtl="0" eaLnBrk="1" latinLnBrk="0" hangingPunct="1">
              <a:buNone/>
              <a:defRPr lang="en-US" sz="1800" b="1" kern="1200" dirty="0" smtClean="0">
                <a:solidFill>
                  <a:schemeClr val="bg1"/>
                </a:solidFill>
                <a:latin typeface="Roboto" panose="02000000000000000000" pitchFamily="2" charset="0"/>
                <a:ea typeface="Roboto" panose="02000000000000000000" pitchFamily="2" charset="0"/>
                <a:cs typeface="+mn-cs"/>
              </a:defRPr>
            </a:lvl1pPr>
            <a:lvl2pPr marL="228600" indent="0" algn="l" defTabSz="914400" rtl="0" eaLnBrk="1" latinLnBrk="0" hangingPunct="1">
              <a:buNone/>
              <a:defRPr lang="en-US" sz="1200" b="1" kern="1200" dirty="0" smtClean="0">
                <a:solidFill>
                  <a:schemeClr val="bg1"/>
                </a:solidFill>
                <a:latin typeface="+mn-lt"/>
                <a:ea typeface="+mn-ea"/>
                <a:cs typeface="+mn-cs"/>
              </a:defRPr>
            </a:lvl2pPr>
            <a:lvl3pPr marL="0" algn="l" defTabSz="914400" rtl="0" eaLnBrk="1" latinLnBrk="0" hangingPunct="1">
              <a:defRPr lang="en-US" sz="1200" b="1" kern="1200" dirty="0" smtClean="0">
                <a:solidFill>
                  <a:schemeClr val="bg1"/>
                </a:solidFill>
                <a:latin typeface="+mn-lt"/>
                <a:ea typeface="+mn-ea"/>
                <a:cs typeface="+mn-cs"/>
              </a:defRPr>
            </a:lvl3pPr>
            <a:lvl4pPr marL="0" algn="l" defTabSz="914400" rtl="0" eaLnBrk="1" latinLnBrk="0" hangingPunct="1">
              <a:defRPr lang="en-US" sz="1200" b="1" kern="1200" dirty="0" smtClean="0">
                <a:solidFill>
                  <a:schemeClr val="bg1"/>
                </a:solidFill>
                <a:latin typeface="+mn-lt"/>
                <a:ea typeface="+mn-ea"/>
                <a:cs typeface="+mn-cs"/>
              </a:defRPr>
            </a:lvl4pPr>
            <a:lvl5pPr marL="0" algn="l" defTabSz="914400" rtl="0" eaLnBrk="1" latinLnBrk="0" hangingPunct="1">
              <a:defRPr lang="en-US" sz="1200" b="1" kern="1200" dirty="0">
                <a:solidFill>
                  <a:schemeClr val="bg1"/>
                </a:solidFill>
                <a:latin typeface="+mn-lt"/>
                <a:ea typeface="+mn-ea"/>
                <a:cs typeface="+mn-cs"/>
              </a:defRPr>
            </a:lvl5pPr>
          </a:lstStyle>
          <a:p>
            <a:pPr marL="0" lvl="0"/>
            <a:r>
              <a:rPr lang="en-US" dirty="0"/>
              <a:t>Click to edit Master text styles</a:t>
            </a:r>
          </a:p>
        </p:txBody>
      </p:sp>
      <p:sp>
        <p:nvSpPr>
          <p:cNvPr id="4" name="Date Placeholder 3">
            <a:extLst>
              <a:ext uri="{FF2B5EF4-FFF2-40B4-BE49-F238E27FC236}">
                <a16:creationId xmlns:a16="http://schemas.microsoft.com/office/drawing/2014/main" id="{522F52D9-062B-604A-BE56-4CFD40A02A08}"/>
              </a:ext>
            </a:extLst>
          </p:cNvPr>
          <p:cNvSpPr>
            <a:spLocks noGrp="1"/>
          </p:cNvSpPr>
          <p:nvPr>
            <p:ph type="dt" sz="half" idx="16"/>
          </p:nvPr>
        </p:nvSpPr>
        <p:spPr/>
        <p:txBody>
          <a:bodyPr/>
          <a:lstStyle/>
          <a:p>
            <a:fld id="{783372EC-FA56-4041-836D-C583E56ED01C}" type="datetime1">
              <a:rPr lang="en-US" smtClean="0"/>
              <a:t>11/5/2025</a:t>
            </a:fld>
            <a:endParaRPr lang="en-US"/>
          </a:p>
        </p:txBody>
      </p:sp>
      <p:sp>
        <p:nvSpPr>
          <p:cNvPr id="6" name="Footer Placeholder 5">
            <a:extLst>
              <a:ext uri="{FF2B5EF4-FFF2-40B4-BE49-F238E27FC236}">
                <a16:creationId xmlns:a16="http://schemas.microsoft.com/office/drawing/2014/main" id="{86C11F04-708D-EA45-8B05-2D3ACD0CDB15}"/>
              </a:ext>
            </a:extLst>
          </p:cNvPr>
          <p:cNvSpPr>
            <a:spLocks noGrp="1"/>
          </p:cNvSpPr>
          <p:nvPr>
            <p:ph type="ftr" sz="quarter" idx="17"/>
          </p:nvPr>
        </p:nvSpPr>
        <p:spPr/>
        <p:txBody>
          <a:bodyPr/>
          <a:lstStyle/>
          <a:p>
            <a:r>
              <a:rPr lang="en-US"/>
              <a:t>PIONEERING GENOMICS TO POSITIVELY IMPACT LIFE</a:t>
            </a:r>
          </a:p>
        </p:txBody>
      </p:sp>
      <p:sp>
        <p:nvSpPr>
          <p:cNvPr id="13" name="Slide Number Placeholder 12">
            <a:extLst>
              <a:ext uri="{FF2B5EF4-FFF2-40B4-BE49-F238E27FC236}">
                <a16:creationId xmlns:a16="http://schemas.microsoft.com/office/drawing/2014/main" id="{40DC9841-7816-2B42-AE3D-7D5D66745A8A}"/>
              </a:ext>
            </a:extLst>
          </p:cNvPr>
          <p:cNvSpPr>
            <a:spLocks noGrp="1"/>
          </p:cNvSpPr>
          <p:nvPr>
            <p:ph type="sldNum" sz="quarter" idx="18"/>
          </p:nvPr>
        </p:nvSpPr>
        <p:spPr/>
        <p:txBody>
          <a:bodyPr/>
          <a:lstStyle/>
          <a:p>
            <a:fld id="{3568C19F-09C0-6444-9EDB-745BFBB4690D}" type="slidenum">
              <a:rPr lang="en-US" smtClean="0"/>
              <a:pPr/>
              <a:t>‹#›</a:t>
            </a:fld>
            <a:endParaRPr lang="en-US"/>
          </a:p>
        </p:txBody>
      </p:sp>
    </p:spTree>
    <p:extLst>
      <p:ext uri="{BB962C8B-B14F-4D97-AF65-F5344CB8AC3E}">
        <p14:creationId xmlns:p14="http://schemas.microsoft.com/office/powerpoint/2010/main" val="2263826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C92C1C-FBA0-9741-A6EB-0731F6614DF9}"/>
              </a:ext>
            </a:extLst>
          </p:cNvPr>
          <p:cNvSpPr>
            <a:spLocks noGrp="1"/>
          </p:cNvSpPr>
          <p:nvPr>
            <p:ph type="title"/>
          </p:nvPr>
        </p:nvSpPr>
        <p:spPr>
          <a:xfrm>
            <a:off x="914400" y="914399"/>
            <a:ext cx="9445752" cy="1371600"/>
          </a:xfrm>
          <a:prstGeom prst="rect">
            <a:avLst/>
          </a:prstGeom>
        </p:spPr>
        <p:txBody>
          <a:bodyPr vert="horz" lIns="91440" tIns="45720" rIns="91440" bIns="45720" rtlCol="0" anchor="t"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BCA3D-AA1E-5A44-88CF-7B8E47EFB5C7}"/>
              </a:ext>
            </a:extLst>
          </p:cNvPr>
          <p:cNvSpPr>
            <a:spLocks noGrp="1"/>
          </p:cNvSpPr>
          <p:nvPr>
            <p:ph type="body" idx="1"/>
          </p:nvPr>
        </p:nvSpPr>
        <p:spPr>
          <a:xfrm>
            <a:off x="914400" y="2514600"/>
            <a:ext cx="9445752" cy="3657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DE08A9CB-AFB2-9542-AF83-7D599B0372AD}"/>
              </a:ext>
            </a:extLst>
          </p:cNvPr>
          <p:cNvSpPr/>
          <p:nvPr userDrawn="1"/>
        </p:nvSpPr>
        <p:spPr>
          <a:xfrm flipH="1">
            <a:off x="11277599" y="0"/>
            <a:ext cx="9144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28DF96DF-145A-DC4A-919D-270D9ADC8CCF}"/>
              </a:ext>
            </a:extLst>
          </p:cNvPr>
          <p:cNvSpPr>
            <a:spLocks noGrp="1"/>
          </p:cNvSpPr>
          <p:nvPr>
            <p:ph type="dt" sz="half" idx="2"/>
          </p:nvPr>
        </p:nvSpPr>
        <p:spPr>
          <a:xfrm rot="5400000">
            <a:off x="10363200" y="4391024"/>
            <a:ext cx="2743200" cy="914400"/>
          </a:xfrm>
          <a:prstGeom prst="rect">
            <a:avLst/>
          </a:prstGeom>
        </p:spPr>
        <p:txBody>
          <a:bodyPr vert="horz" lIns="91440" tIns="45720" rIns="91440" bIns="45720" rtlCol="0" anchor="ctr"/>
          <a:lstStyle>
            <a:lvl1pPr algn="r">
              <a:defRPr sz="1200">
                <a:solidFill>
                  <a:sysClr val="windowText" lastClr="000000"/>
                </a:solidFill>
              </a:defRPr>
            </a:lvl1pPr>
          </a:lstStyle>
          <a:p>
            <a:fld id="{78EDD0D8-3D15-BC4F-95DA-491877C75270}" type="datetime1">
              <a:rPr lang="en-US" smtClean="0"/>
              <a:t>11/5/2025</a:t>
            </a:fld>
            <a:endParaRPr lang="en-US"/>
          </a:p>
        </p:txBody>
      </p:sp>
      <p:sp>
        <p:nvSpPr>
          <p:cNvPr id="5" name="Footer Placeholder 4">
            <a:extLst>
              <a:ext uri="{FF2B5EF4-FFF2-40B4-BE49-F238E27FC236}">
                <a16:creationId xmlns:a16="http://schemas.microsoft.com/office/drawing/2014/main" id="{268E9168-32C2-5F48-839F-39C9F172F183}"/>
              </a:ext>
            </a:extLst>
          </p:cNvPr>
          <p:cNvSpPr>
            <a:spLocks noGrp="1"/>
          </p:cNvSpPr>
          <p:nvPr>
            <p:ph type="ftr" sz="quarter" idx="3"/>
          </p:nvPr>
        </p:nvSpPr>
        <p:spPr>
          <a:xfrm rot="5400000">
            <a:off x="9677399" y="3258185"/>
            <a:ext cx="4114800" cy="914400"/>
          </a:xfrm>
          <a:prstGeom prst="rect">
            <a:avLst/>
          </a:prstGeom>
        </p:spPr>
        <p:txBody>
          <a:bodyPr vert="horz" lIns="91440" tIns="45720" rIns="91440" bIns="45720" rtlCol="0" anchor="ctr"/>
          <a:lstStyle>
            <a:lvl1pPr algn="l">
              <a:defRPr sz="1000">
                <a:solidFill>
                  <a:sysClr val="windowText" lastClr="000000"/>
                </a:solidFill>
              </a:defRPr>
            </a:lvl1pPr>
          </a:lstStyle>
          <a:p>
            <a:r>
              <a:rPr lang="en-US"/>
              <a:t>PIONEERING GENOMICS TO POSITIVELY IMPACT LIFE</a:t>
            </a:r>
          </a:p>
        </p:txBody>
      </p:sp>
      <p:sp>
        <p:nvSpPr>
          <p:cNvPr id="6" name="Slide Number Placeholder 5">
            <a:extLst>
              <a:ext uri="{FF2B5EF4-FFF2-40B4-BE49-F238E27FC236}">
                <a16:creationId xmlns:a16="http://schemas.microsoft.com/office/drawing/2014/main" id="{F1F1B122-6D19-4147-BD05-A81583AF7BBC}"/>
              </a:ext>
            </a:extLst>
          </p:cNvPr>
          <p:cNvSpPr>
            <a:spLocks noGrp="1"/>
          </p:cNvSpPr>
          <p:nvPr>
            <p:ph type="sldNum" sz="quarter" idx="4"/>
          </p:nvPr>
        </p:nvSpPr>
        <p:spPr>
          <a:xfrm>
            <a:off x="11277599" y="6356350"/>
            <a:ext cx="914400" cy="365125"/>
          </a:xfrm>
          <a:prstGeom prst="rect">
            <a:avLst/>
          </a:prstGeom>
        </p:spPr>
        <p:txBody>
          <a:bodyPr vert="horz" lIns="91440" tIns="45720" rIns="91440" bIns="45720" rtlCol="0" anchor="ctr" anchorCtr="0"/>
          <a:lstStyle>
            <a:lvl1pPr algn="ctr">
              <a:defRPr sz="1200" b="1">
                <a:solidFill>
                  <a:sysClr val="windowText" lastClr="000000"/>
                </a:solidFill>
              </a:defRPr>
            </a:lvl1pPr>
          </a:lstStyle>
          <a:p>
            <a:fld id="{3568C19F-09C0-6444-9EDB-745BFBB4690D}" type="slidenum">
              <a:rPr lang="en-US" smtClean="0"/>
              <a:pPr/>
              <a:t>‹#›</a:t>
            </a:fld>
            <a:endParaRPr lang="en-US"/>
          </a:p>
        </p:txBody>
      </p:sp>
      <p:pic>
        <p:nvPicPr>
          <p:cNvPr id="9" name="Picture 8">
            <a:extLst>
              <a:ext uri="{FF2B5EF4-FFF2-40B4-BE49-F238E27FC236}">
                <a16:creationId xmlns:a16="http://schemas.microsoft.com/office/drawing/2014/main" id="{70D62862-1D56-A947-9E89-E0FB5B3D2212}"/>
              </a:ext>
            </a:extLst>
          </p:cNvPr>
          <p:cNvPicPr>
            <a:picLocks noChangeAspect="1"/>
          </p:cNvPicPr>
          <p:nvPr userDrawn="1"/>
        </p:nvPicPr>
        <p:blipFill>
          <a:blip r:embed="rId11"/>
          <a:stretch>
            <a:fillRect/>
          </a:stretch>
        </p:blipFill>
        <p:spPr>
          <a:xfrm>
            <a:off x="11551919" y="457200"/>
            <a:ext cx="365760" cy="1127760"/>
          </a:xfrm>
          <a:prstGeom prst="rect">
            <a:avLst/>
          </a:prstGeom>
        </p:spPr>
      </p:pic>
    </p:spTree>
    <p:extLst>
      <p:ext uri="{BB962C8B-B14F-4D97-AF65-F5344CB8AC3E}">
        <p14:creationId xmlns:p14="http://schemas.microsoft.com/office/powerpoint/2010/main" val="148278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600"/>
        </a:spcBef>
        <a:buFont typeface="Wingdings" pitchFamily="2" charset="2"/>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600"/>
        </a:spcBef>
        <a:buFont typeface="Wingdings" pitchFamily="2" charset="2"/>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600"/>
        </a:spcBef>
        <a:buFont typeface="Wingdings" pitchFamily="2" charset="2"/>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600"/>
        </a:spcBef>
        <a:buFont typeface="Wingdings" pitchFamily="2" charset="2"/>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600"/>
        </a:spcBef>
        <a:buFont typeface="Wingdings" pitchFamily="2" charset="2"/>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0BD52F2-8C8A-8B46-9F14-EB7C7EE7CF9A}"/>
              </a:ext>
            </a:extLst>
          </p:cNvPr>
          <p:cNvSpPr/>
          <p:nvPr/>
        </p:nvSpPr>
        <p:spPr>
          <a:xfrm>
            <a:off x="10614211" y="0"/>
            <a:ext cx="157778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1AEE3B-0354-BE47-BD50-D77C01F72CA4}"/>
              </a:ext>
            </a:extLst>
          </p:cNvPr>
          <p:cNvSpPr/>
          <p:nvPr/>
        </p:nvSpPr>
        <p:spPr>
          <a:xfrm>
            <a:off x="631698" y="-857"/>
            <a:ext cx="112745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8" name="Title 7">
            <a:extLst>
              <a:ext uri="{FF2B5EF4-FFF2-40B4-BE49-F238E27FC236}">
                <a16:creationId xmlns:a16="http://schemas.microsoft.com/office/drawing/2014/main" id="{F97BA8A3-2A7B-AB46-AB1D-F0C7FFCCE411}"/>
              </a:ext>
            </a:extLst>
          </p:cNvPr>
          <p:cNvSpPr>
            <a:spLocks noGrp="1"/>
          </p:cNvSpPr>
          <p:nvPr>
            <p:ph type="title"/>
          </p:nvPr>
        </p:nvSpPr>
        <p:spPr>
          <a:xfrm>
            <a:off x="1003173" y="1074420"/>
            <a:ext cx="10531602" cy="2852737"/>
          </a:xfrm>
        </p:spPr>
        <p:txBody>
          <a:bodyPr>
            <a:normAutofit/>
          </a:bodyPr>
          <a:lstStyle/>
          <a:p>
            <a:r>
              <a:rPr lang="en-US" sz="6600" u="sng" dirty="0" err="1">
                <a:solidFill>
                  <a:schemeClr val="bg1"/>
                </a:solidFill>
                <a:latin typeface="Roboto" panose="02000000000000000000" pitchFamily="2" charset="0"/>
                <a:ea typeface="Roboto" panose="02000000000000000000" pitchFamily="2" charset="0"/>
              </a:rPr>
              <a:t>Pubmed</a:t>
            </a:r>
            <a:r>
              <a:rPr lang="en-US" sz="6600" u="sng" dirty="0">
                <a:solidFill>
                  <a:schemeClr val="bg1"/>
                </a:solidFill>
              </a:rPr>
              <a:t> </a:t>
            </a:r>
            <a:r>
              <a:rPr lang="en-US" sz="6600" u="sng" dirty="0">
                <a:solidFill>
                  <a:schemeClr val="bg1"/>
                </a:solidFill>
                <a:latin typeface="Roboto" panose="02000000000000000000" pitchFamily="2" charset="0"/>
                <a:ea typeface="Roboto" panose="02000000000000000000" pitchFamily="2" charset="0"/>
              </a:rPr>
              <a:t>Miner – AI Tool to Extract Sequence Features</a:t>
            </a:r>
            <a:br>
              <a:rPr lang="en-US" dirty="0">
                <a:solidFill>
                  <a:schemeClr val="bg1"/>
                </a:solidFill>
                <a:latin typeface="Roboto" panose="02000000000000000000" pitchFamily="2" charset="0"/>
                <a:ea typeface="Roboto" panose="02000000000000000000" pitchFamily="2" charset="0"/>
              </a:rPr>
            </a:br>
            <a:endParaRPr lang="en-US" dirty="0">
              <a:latin typeface="Roboto" panose="02000000000000000000" pitchFamily="2" charset="0"/>
              <a:ea typeface="Roboto" panose="02000000000000000000" pitchFamily="2" charset="0"/>
            </a:endParaRPr>
          </a:p>
        </p:txBody>
      </p:sp>
      <p:sp>
        <p:nvSpPr>
          <p:cNvPr id="20" name="Text Placeholder 19">
            <a:extLst>
              <a:ext uri="{FF2B5EF4-FFF2-40B4-BE49-F238E27FC236}">
                <a16:creationId xmlns:a16="http://schemas.microsoft.com/office/drawing/2014/main" id="{6A9A9C8D-EB17-8046-83CA-AA84C736F12B}"/>
              </a:ext>
            </a:extLst>
          </p:cNvPr>
          <p:cNvSpPr>
            <a:spLocks noGrp="1"/>
          </p:cNvSpPr>
          <p:nvPr>
            <p:ph type="body" idx="1"/>
          </p:nvPr>
        </p:nvSpPr>
        <p:spPr/>
        <p:txBody>
          <a:bodyPr/>
          <a:lstStyle/>
          <a:p>
            <a:endParaRPr lang="en-US"/>
          </a:p>
        </p:txBody>
      </p:sp>
      <p:sp>
        <p:nvSpPr>
          <p:cNvPr id="2" name="Footer Placeholder 1">
            <a:extLst>
              <a:ext uri="{FF2B5EF4-FFF2-40B4-BE49-F238E27FC236}">
                <a16:creationId xmlns:a16="http://schemas.microsoft.com/office/drawing/2014/main" id="{95D00080-F12F-A940-92FC-3AFEC1FFAF8B}"/>
              </a:ext>
            </a:extLst>
          </p:cNvPr>
          <p:cNvSpPr>
            <a:spLocks noGrp="1"/>
          </p:cNvSpPr>
          <p:nvPr>
            <p:ph type="ftr" sz="quarter" idx="11"/>
          </p:nvPr>
        </p:nvSpPr>
        <p:spPr>
          <a:xfrm rot="5400000">
            <a:off x="9677399" y="3258185"/>
            <a:ext cx="4114800" cy="914400"/>
          </a:xfrm>
        </p:spPr>
        <p:txBody>
          <a:bodyPr/>
          <a:lstStyle/>
          <a:p>
            <a:r>
              <a:rPr lang="en-US" dirty="0"/>
              <a:t>PIONEERING GENOMICS TO POSITIVELY IMPACT LIFE</a:t>
            </a:r>
          </a:p>
        </p:txBody>
      </p:sp>
      <p:sp>
        <p:nvSpPr>
          <p:cNvPr id="3" name="Slide Number Placeholder 2">
            <a:extLst>
              <a:ext uri="{FF2B5EF4-FFF2-40B4-BE49-F238E27FC236}">
                <a16:creationId xmlns:a16="http://schemas.microsoft.com/office/drawing/2014/main" id="{48A0377B-CD8C-7A47-B67E-AEE763D32BA7}"/>
              </a:ext>
            </a:extLst>
          </p:cNvPr>
          <p:cNvSpPr>
            <a:spLocks noGrp="1"/>
          </p:cNvSpPr>
          <p:nvPr>
            <p:ph type="sldNum" sz="quarter" idx="12"/>
          </p:nvPr>
        </p:nvSpPr>
        <p:spPr>
          <a:xfrm>
            <a:off x="11277599" y="6356350"/>
            <a:ext cx="914400" cy="365125"/>
          </a:xfrm>
        </p:spPr>
        <p:txBody>
          <a:bodyPr/>
          <a:lstStyle/>
          <a:p>
            <a:fld id="{3568C19F-09C0-6444-9EDB-745BFBB4690D}" type="slidenum">
              <a:rPr lang="en-US" smtClean="0"/>
              <a:pPr/>
              <a:t>1</a:t>
            </a:fld>
            <a:endParaRPr lang="en-US"/>
          </a:p>
        </p:txBody>
      </p:sp>
      <p:pic>
        <p:nvPicPr>
          <p:cNvPr id="22" name="Picture 21" descr="A large building&#10;&#10;Description automatically generated">
            <a:extLst>
              <a:ext uri="{FF2B5EF4-FFF2-40B4-BE49-F238E27FC236}">
                <a16:creationId xmlns:a16="http://schemas.microsoft.com/office/drawing/2014/main" id="{F8EECD10-C5B7-9249-B801-89CBB5E07B7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
          <a:stretch/>
        </p:blipFill>
        <p:spPr>
          <a:xfrm>
            <a:off x="0" y="3428999"/>
            <a:ext cx="12188952" cy="3428144"/>
          </a:xfrm>
          <a:prstGeom prst="rect">
            <a:avLst/>
          </a:prstGeom>
        </p:spPr>
      </p:pic>
      <p:pic>
        <p:nvPicPr>
          <p:cNvPr id="11" name="Picture 10" descr="A picture containing text, clipart&#10;&#10;Description automatically generated">
            <a:extLst>
              <a:ext uri="{FF2B5EF4-FFF2-40B4-BE49-F238E27FC236}">
                <a16:creationId xmlns:a16="http://schemas.microsoft.com/office/drawing/2014/main" id="{63719244-5E89-0812-93DA-4701D54DBBF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4400" y="5877667"/>
            <a:ext cx="2976196" cy="457200"/>
          </a:xfrm>
          <a:prstGeom prst="rect">
            <a:avLst/>
          </a:prstGeom>
        </p:spPr>
      </p:pic>
    </p:spTree>
    <p:extLst>
      <p:ext uri="{BB962C8B-B14F-4D97-AF65-F5344CB8AC3E}">
        <p14:creationId xmlns:p14="http://schemas.microsoft.com/office/powerpoint/2010/main" val="1862789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249EA-AC0A-B37A-83B8-28CF79F29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A95A4-5AD6-4452-C0FC-E2F8EB062EFA}"/>
              </a:ext>
            </a:extLst>
          </p:cNvPr>
          <p:cNvSpPr>
            <a:spLocks noGrp="1"/>
          </p:cNvSpPr>
          <p:nvPr>
            <p:ph type="title"/>
          </p:nvPr>
        </p:nvSpPr>
        <p:spPr>
          <a:xfrm>
            <a:off x="914400" y="561974"/>
            <a:ext cx="9445752" cy="1371600"/>
          </a:xfrm>
        </p:spPr>
        <p:txBody>
          <a:bodyPr/>
          <a:lstStyle/>
          <a:p>
            <a:r>
              <a:rPr lang="en-US" sz="5400" b="1" u="sng" dirty="0"/>
              <a:t>Introduction</a:t>
            </a:r>
            <a:endParaRPr lang="en-US" b="1" u="sng" dirty="0">
              <a:latin typeface="Roboto" panose="02000000000000000000" pitchFamily="2" charset="0"/>
              <a:ea typeface="Roboto" panose="02000000000000000000" pitchFamily="2" charset="0"/>
            </a:endParaRPr>
          </a:p>
        </p:txBody>
      </p:sp>
      <p:sp>
        <p:nvSpPr>
          <p:cNvPr id="4" name="Footer Placeholder 3">
            <a:extLst>
              <a:ext uri="{FF2B5EF4-FFF2-40B4-BE49-F238E27FC236}">
                <a16:creationId xmlns:a16="http://schemas.microsoft.com/office/drawing/2014/main" id="{5979FC4F-758D-30E3-C75B-70AE1E60A62C}"/>
              </a:ext>
            </a:extLst>
          </p:cNvPr>
          <p:cNvSpPr>
            <a:spLocks noGrp="1"/>
          </p:cNvSpPr>
          <p:nvPr>
            <p:ph type="ftr" sz="quarter" idx="11"/>
          </p:nvPr>
        </p:nvSpPr>
        <p:spPr/>
        <p:txBody>
          <a:bodyPr/>
          <a:lstStyle/>
          <a:p>
            <a:r>
              <a:rPr lang="en-US"/>
              <a:t>PIONEERING GENOMICS TO POSITIVELY IMPACT LIFE</a:t>
            </a:r>
            <a:endParaRPr lang="en-US" dirty="0"/>
          </a:p>
        </p:txBody>
      </p:sp>
      <p:sp>
        <p:nvSpPr>
          <p:cNvPr id="5" name="Slide Number Placeholder 4">
            <a:extLst>
              <a:ext uri="{FF2B5EF4-FFF2-40B4-BE49-F238E27FC236}">
                <a16:creationId xmlns:a16="http://schemas.microsoft.com/office/drawing/2014/main" id="{5F402CA9-553E-A9A1-E465-631E392CE1D6}"/>
              </a:ext>
            </a:extLst>
          </p:cNvPr>
          <p:cNvSpPr>
            <a:spLocks noGrp="1"/>
          </p:cNvSpPr>
          <p:nvPr>
            <p:ph type="sldNum" sz="quarter" idx="12"/>
          </p:nvPr>
        </p:nvSpPr>
        <p:spPr/>
        <p:txBody>
          <a:bodyPr/>
          <a:lstStyle/>
          <a:p>
            <a:fld id="{3568C19F-09C0-6444-9EDB-745BFBB4690D}" type="slidenum">
              <a:rPr lang="en-US" smtClean="0"/>
              <a:pPr/>
              <a:t>2</a:t>
            </a:fld>
            <a:endParaRPr lang="en-US"/>
          </a:p>
        </p:txBody>
      </p:sp>
      <p:sp>
        <p:nvSpPr>
          <p:cNvPr id="6" name="Rectangle 5">
            <a:extLst>
              <a:ext uri="{FF2B5EF4-FFF2-40B4-BE49-F238E27FC236}">
                <a16:creationId xmlns:a16="http://schemas.microsoft.com/office/drawing/2014/main" id="{F6B85D1F-9228-C240-280B-4D618BB10FEE}"/>
              </a:ext>
            </a:extLst>
          </p:cNvPr>
          <p:cNvSpPr/>
          <p:nvPr/>
        </p:nvSpPr>
        <p:spPr>
          <a:xfrm>
            <a:off x="914400" y="0"/>
            <a:ext cx="1869743" cy="452432"/>
          </a:xfrm>
          <a:prstGeom prst="rect">
            <a:avLst/>
          </a:prstGeom>
          <a:solidFill>
            <a:schemeClr val="tx2"/>
          </a:solidFill>
        </p:spPr>
        <p:txBody>
          <a:bodyPr vert="horz" wrap="none" lIns="182880" tIns="109728" rIns="182880" bIns="91440" rtlCol="0" anchor="t" anchorCtr="0">
            <a:spAutoFit/>
          </a:bodyPr>
          <a:lstStyle/>
          <a:p>
            <a:pPr>
              <a:lnSpc>
                <a:spcPct val="90000"/>
              </a:lnSpc>
              <a:spcBef>
                <a:spcPts val="600"/>
              </a:spcBef>
            </a:pPr>
            <a:r>
              <a:rPr lang="en-US" b="1" dirty="0">
                <a:solidFill>
                  <a:srgbClr val="FF0000"/>
                </a:solidFill>
                <a:latin typeface="Roboto" panose="02000000000000000000" pitchFamily="2" charset="0"/>
                <a:ea typeface="Roboto" panose="02000000000000000000" pitchFamily="2" charset="0"/>
              </a:rPr>
              <a:t>    </a:t>
            </a:r>
            <a:r>
              <a:rPr lang="en-US" b="1" dirty="0">
                <a:solidFill>
                  <a:srgbClr val="FF0000"/>
                </a:solidFill>
                <a:highlight>
                  <a:srgbClr val="FF0000"/>
                </a:highlight>
                <a:latin typeface="Roboto" panose="02000000000000000000" pitchFamily="2" charset="0"/>
                <a:ea typeface="Roboto" panose="02000000000000000000" pitchFamily="2" charset="0"/>
              </a:rPr>
              <a:t>               </a:t>
            </a:r>
            <a:r>
              <a:rPr lang="en-US" b="1" dirty="0">
                <a:solidFill>
                  <a:srgbClr val="FF0000"/>
                </a:solidFill>
                <a:latin typeface="Roboto" panose="02000000000000000000" pitchFamily="2" charset="0"/>
                <a:ea typeface="Roboto" panose="02000000000000000000" pitchFamily="2" charset="0"/>
              </a:rPr>
              <a:t>       </a:t>
            </a:r>
          </a:p>
        </p:txBody>
      </p:sp>
      <p:sp>
        <p:nvSpPr>
          <p:cNvPr id="8" name="Rectangle 2">
            <a:extLst>
              <a:ext uri="{FF2B5EF4-FFF2-40B4-BE49-F238E27FC236}">
                <a16:creationId xmlns:a16="http://schemas.microsoft.com/office/drawing/2014/main" id="{D6DC994D-2749-939B-A282-B41742EDB7D6}"/>
              </a:ext>
            </a:extLst>
          </p:cNvPr>
          <p:cNvSpPr>
            <a:spLocks noGrp="1" noChangeArrowheads="1"/>
          </p:cNvSpPr>
          <p:nvPr>
            <p:ph idx="1"/>
          </p:nvPr>
        </p:nvSpPr>
        <p:spPr bwMode="auto">
          <a:xfrm>
            <a:off x="914400" y="1689418"/>
            <a:ext cx="8953500" cy="382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Project Name:</a:t>
            </a:r>
            <a:r>
              <a:rPr lang="en-US" sz="1800" dirty="0"/>
              <a:t> PubMed Miner – AI Tool to Extract Sequence Features from Literature</a:t>
            </a:r>
            <a:br>
              <a:rPr lang="en-US" sz="1800" dirty="0"/>
            </a:br>
            <a:endParaRPr lang="en-US" sz="1800" dirty="0"/>
          </a:p>
          <a:p>
            <a:r>
              <a:rPr lang="en-US" sz="1800" b="1" dirty="0"/>
              <a:t>Theme:</a:t>
            </a:r>
            <a:r>
              <a:rPr lang="en-US" sz="1800" dirty="0"/>
              <a:t> Automated Knowledge Extraction and Curation</a:t>
            </a:r>
            <a:br>
              <a:rPr lang="en-US" sz="1800" dirty="0"/>
            </a:br>
            <a:endParaRPr lang="en-US" sz="1800" dirty="0"/>
          </a:p>
          <a:p>
            <a:r>
              <a:rPr lang="en-US" sz="1800" b="1" dirty="0"/>
              <a:t>Team Members:</a:t>
            </a:r>
            <a:endParaRPr lang="en-US" sz="1800" dirty="0"/>
          </a:p>
          <a:p>
            <a:pPr lvl="1"/>
            <a:r>
              <a:rPr lang="en-US" sz="1400" b="1" dirty="0"/>
              <a:t>Indresh Singh</a:t>
            </a:r>
            <a:r>
              <a:rPr lang="en-US" sz="1400" dirty="0"/>
              <a:t> – Director of Bioinformatics, J. Craig Venter Institute (JCVI)</a:t>
            </a:r>
          </a:p>
          <a:p>
            <a:pPr lvl="1"/>
            <a:r>
              <a:rPr lang="en-US" sz="1400" b="1" dirty="0"/>
              <a:t>Shubham Deshmukh</a:t>
            </a:r>
            <a:r>
              <a:rPr lang="en-US" sz="1400" dirty="0"/>
              <a:t> – AI Software Development Engineer Intern, J. Craig Venter Institute (JCVI)</a:t>
            </a:r>
            <a:br>
              <a:rPr lang="en-US" sz="1400" dirty="0"/>
            </a:br>
            <a:endParaRPr lang="en-US" sz="1400" dirty="0"/>
          </a:p>
          <a:p>
            <a:r>
              <a:rPr lang="en-US" sz="1800" b="1" dirty="0"/>
              <a:t>Goal:</a:t>
            </a:r>
            <a:br>
              <a:rPr lang="en-US" sz="1800" dirty="0"/>
            </a:br>
            <a:r>
              <a:rPr lang="en-US" sz="1800" dirty="0"/>
              <a:t>Develop an AI-driven system that automatically mines latest PubMed literature to extract, validate, and organize viral sequence features such as mutations, motifs, and conserved regions for improved pathogen analysis and public health response.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cs typeface="Roboto" panose="02000000000000000000" pitchFamily="2" charset="0"/>
            </a:endParaRPr>
          </a:p>
        </p:txBody>
      </p:sp>
    </p:spTree>
    <p:extLst>
      <p:ext uri="{BB962C8B-B14F-4D97-AF65-F5344CB8AC3E}">
        <p14:creationId xmlns:p14="http://schemas.microsoft.com/office/powerpoint/2010/main" val="46272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8C45A-E7E2-CA17-3CA1-E405CBA61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A7D62-01BD-5CA5-B0A4-4B7B581FD9B7}"/>
              </a:ext>
            </a:extLst>
          </p:cNvPr>
          <p:cNvSpPr>
            <a:spLocks noGrp="1"/>
          </p:cNvSpPr>
          <p:nvPr>
            <p:ph type="title"/>
          </p:nvPr>
        </p:nvSpPr>
        <p:spPr>
          <a:xfrm>
            <a:off x="914400" y="561974"/>
            <a:ext cx="9445752" cy="1371600"/>
          </a:xfrm>
        </p:spPr>
        <p:txBody>
          <a:bodyPr>
            <a:normAutofit fontScale="90000"/>
          </a:bodyPr>
          <a:lstStyle/>
          <a:p>
            <a:r>
              <a:rPr lang="en-US" sz="5400" b="1" u="sng" dirty="0"/>
              <a:t>Importance of Sequence Features</a:t>
            </a:r>
            <a:endParaRPr lang="en-US" b="1" u="sng" dirty="0">
              <a:latin typeface="Roboto" panose="02000000000000000000" pitchFamily="2" charset="0"/>
              <a:ea typeface="Roboto" panose="02000000000000000000" pitchFamily="2" charset="0"/>
            </a:endParaRPr>
          </a:p>
        </p:txBody>
      </p:sp>
      <p:sp>
        <p:nvSpPr>
          <p:cNvPr id="4" name="Footer Placeholder 3">
            <a:extLst>
              <a:ext uri="{FF2B5EF4-FFF2-40B4-BE49-F238E27FC236}">
                <a16:creationId xmlns:a16="http://schemas.microsoft.com/office/drawing/2014/main" id="{0DDF00AE-BF8E-7AFC-847D-EF5937318056}"/>
              </a:ext>
            </a:extLst>
          </p:cNvPr>
          <p:cNvSpPr>
            <a:spLocks noGrp="1"/>
          </p:cNvSpPr>
          <p:nvPr>
            <p:ph type="ftr" sz="quarter" idx="11"/>
          </p:nvPr>
        </p:nvSpPr>
        <p:spPr/>
        <p:txBody>
          <a:bodyPr/>
          <a:lstStyle/>
          <a:p>
            <a:r>
              <a:rPr lang="en-US"/>
              <a:t>PIONEERING GENOMICS TO POSITIVELY IMPACT LIFE</a:t>
            </a:r>
            <a:endParaRPr lang="en-US" dirty="0"/>
          </a:p>
        </p:txBody>
      </p:sp>
      <p:sp>
        <p:nvSpPr>
          <p:cNvPr id="5" name="Slide Number Placeholder 4">
            <a:extLst>
              <a:ext uri="{FF2B5EF4-FFF2-40B4-BE49-F238E27FC236}">
                <a16:creationId xmlns:a16="http://schemas.microsoft.com/office/drawing/2014/main" id="{7373ECE5-3696-2B99-415D-95CEA048E102}"/>
              </a:ext>
            </a:extLst>
          </p:cNvPr>
          <p:cNvSpPr>
            <a:spLocks noGrp="1"/>
          </p:cNvSpPr>
          <p:nvPr>
            <p:ph type="sldNum" sz="quarter" idx="12"/>
          </p:nvPr>
        </p:nvSpPr>
        <p:spPr/>
        <p:txBody>
          <a:bodyPr/>
          <a:lstStyle/>
          <a:p>
            <a:fld id="{3568C19F-09C0-6444-9EDB-745BFBB4690D}" type="slidenum">
              <a:rPr lang="en-US" smtClean="0"/>
              <a:pPr/>
              <a:t>3</a:t>
            </a:fld>
            <a:endParaRPr lang="en-US"/>
          </a:p>
        </p:txBody>
      </p:sp>
      <p:sp>
        <p:nvSpPr>
          <p:cNvPr id="6" name="Rectangle 5">
            <a:extLst>
              <a:ext uri="{FF2B5EF4-FFF2-40B4-BE49-F238E27FC236}">
                <a16:creationId xmlns:a16="http://schemas.microsoft.com/office/drawing/2014/main" id="{2BA7A6BA-80B7-85FC-7E5C-F4913847C28D}"/>
              </a:ext>
            </a:extLst>
          </p:cNvPr>
          <p:cNvSpPr/>
          <p:nvPr/>
        </p:nvSpPr>
        <p:spPr>
          <a:xfrm>
            <a:off x="914400" y="0"/>
            <a:ext cx="1869743" cy="452432"/>
          </a:xfrm>
          <a:prstGeom prst="rect">
            <a:avLst/>
          </a:prstGeom>
          <a:solidFill>
            <a:schemeClr val="tx2"/>
          </a:solidFill>
        </p:spPr>
        <p:txBody>
          <a:bodyPr vert="horz" wrap="none" lIns="182880" tIns="109728" rIns="182880" bIns="91440" rtlCol="0" anchor="t" anchorCtr="0">
            <a:spAutoFit/>
          </a:bodyPr>
          <a:lstStyle/>
          <a:p>
            <a:pPr>
              <a:lnSpc>
                <a:spcPct val="90000"/>
              </a:lnSpc>
              <a:spcBef>
                <a:spcPts val="600"/>
              </a:spcBef>
            </a:pPr>
            <a:r>
              <a:rPr lang="en-US" b="1" dirty="0">
                <a:solidFill>
                  <a:srgbClr val="FF0000"/>
                </a:solidFill>
                <a:latin typeface="Roboto" panose="02000000000000000000" pitchFamily="2" charset="0"/>
                <a:ea typeface="Roboto" panose="02000000000000000000" pitchFamily="2" charset="0"/>
              </a:rPr>
              <a:t>    </a:t>
            </a:r>
            <a:r>
              <a:rPr lang="en-US" b="1" dirty="0">
                <a:solidFill>
                  <a:srgbClr val="FF0000"/>
                </a:solidFill>
                <a:highlight>
                  <a:srgbClr val="FF0000"/>
                </a:highlight>
                <a:latin typeface="Roboto" panose="02000000000000000000" pitchFamily="2" charset="0"/>
                <a:ea typeface="Roboto" panose="02000000000000000000" pitchFamily="2" charset="0"/>
              </a:rPr>
              <a:t>               </a:t>
            </a:r>
            <a:r>
              <a:rPr lang="en-US" b="1" dirty="0">
                <a:solidFill>
                  <a:srgbClr val="FF0000"/>
                </a:solidFill>
                <a:latin typeface="Roboto" panose="02000000000000000000" pitchFamily="2" charset="0"/>
                <a:ea typeface="Roboto" panose="02000000000000000000" pitchFamily="2" charset="0"/>
              </a:rPr>
              <a:t>       </a:t>
            </a:r>
          </a:p>
        </p:txBody>
      </p:sp>
      <p:sp>
        <p:nvSpPr>
          <p:cNvPr id="8" name="Rectangle 2">
            <a:extLst>
              <a:ext uri="{FF2B5EF4-FFF2-40B4-BE49-F238E27FC236}">
                <a16:creationId xmlns:a16="http://schemas.microsoft.com/office/drawing/2014/main" id="{C4C378FB-D327-76C1-4279-D9A0E005122F}"/>
              </a:ext>
            </a:extLst>
          </p:cNvPr>
          <p:cNvSpPr>
            <a:spLocks noGrp="1" noChangeArrowheads="1"/>
          </p:cNvSpPr>
          <p:nvPr>
            <p:ph idx="1"/>
          </p:nvPr>
        </p:nvSpPr>
        <p:spPr bwMode="auto">
          <a:xfrm>
            <a:off x="914400" y="2369517"/>
            <a:ext cx="7200900" cy="3668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SVFs represent genetic differences such as codon usage, motifs, domains, and mutations.</a:t>
            </a:r>
            <a:br>
              <a:rPr lang="en-US" sz="1800" dirty="0"/>
            </a:br>
            <a:endParaRPr lang="en-US" sz="1800" dirty="0"/>
          </a:p>
          <a:p>
            <a:r>
              <a:rPr lang="en-US" sz="1800" dirty="0"/>
              <a:t>They define viral functionality and adaptability.</a:t>
            </a:r>
            <a:br>
              <a:rPr lang="en-US" sz="1800" dirty="0"/>
            </a:br>
            <a:endParaRPr lang="en-US" sz="1800" dirty="0"/>
          </a:p>
          <a:p>
            <a:r>
              <a:rPr lang="en-US" sz="1800" dirty="0"/>
              <a:t>SVFs help identify virulence and transmissibility factors.</a:t>
            </a:r>
            <a:br>
              <a:rPr lang="en-US" sz="1800" dirty="0"/>
            </a:br>
            <a:endParaRPr lang="en-US" sz="1800" dirty="0"/>
          </a:p>
          <a:p>
            <a:r>
              <a:rPr lang="en-US" sz="1800" dirty="0"/>
              <a:t>They guide vaccine and antiviral design through conserved region detection.</a:t>
            </a:r>
            <a:br>
              <a:rPr lang="en-US" sz="1800" dirty="0"/>
            </a:br>
            <a:endParaRPr lang="en-US" sz="1800" dirty="0"/>
          </a:p>
          <a:p>
            <a:r>
              <a:rPr lang="en-US" sz="1800" dirty="0"/>
              <a:t>Used as features for AI models predicting pathogenicity or host interaction.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cs typeface="Roboto" panose="02000000000000000000" pitchFamily="2" charset="0"/>
            </a:endParaRPr>
          </a:p>
        </p:txBody>
      </p:sp>
      <p:pic>
        <p:nvPicPr>
          <p:cNvPr id="4098" name="Picture 2" descr="What are sequence features? | Protein classification">
            <a:extLst>
              <a:ext uri="{FF2B5EF4-FFF2-40B4-BE49-F238E27FC236}">
                <a16:creationId xmlns:a16="http://schemas.microsoft.com/office/drawing/2014/main" id="{90D1C41B-50F5-8ED8-E593-1770A641AC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0018" y="2282984"/>
            <a:ext cx="3161856" cy="2864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753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4AD6D-3F90-9696-7CCF-7E2A308C6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2B0C0-8CCD-2C65-1FE2-25F71949A99E}"/>
              </a:ext>
            </a:extLst>
          </p:cNvPr>
          <p:cNvSpPr>
            <a:spLocks noGrp="1"/>
          </p:cNvSpPr>
          <p:nvPr>
            <p:ph type="title"/>
          </p:nvPr>
        </p:nvSpPr>
        <p:spPr>
          <a:xfrm>
            <a:off x="914400" y="561974"/>
            <a:ext cx="9445752" cy="1371600"/>
          </a:xfrm>
        </p:spPr>
        <p:txBody>
          <a:bodyPr>
            <a:normAutofit/>
          </a:bodyPr>
          <a:lstStyle/>
          <a:p>
            <a:r>
              <a:rPr lang="en-US" sz="5400" b="1" u="sng" dirty="0"/>
              <a:t>Challenges &amp; Motivation</a:t>
            </a:r>
            <a:endParaRPr lang="en-US" b="1" u="sng" dirty="0">
              <a:latin typeface="Roboto" panose="02000000000000000000" pitchFamily="2" charset="0"/>
              <a:ea typeface="Roboto" panose="02000000000000000000" pitchFamily="2" charset="0"/>
            </a:endParaRPr>
          </a:p>
        </p:txBody>
      </p:sp>
      <p:sp>
        <p:nvSpPr>
          <p:cNvPr id="4" name="Footer Placeholder 3">
            <a:extLst>
              <a:ext uri="{FF2B5EF4-FFF2-40B4-BE49-F238E27FC236}">
                <a16:creationId xmlns:a16="http://schemas.microsoft.com/office/drawing/2014/main" id="{916F8225-3CD4-25D7-441E-8E7D6EA50E87}"/>
              </a:ext>
            </a:extLst>
          </p:cNvPr>
          <p:cNvSpPr>
            <a:spLocks noGrp="1"/>
          </p:cNvSpPr>
          <p:nvPr>
            <p:ph type="ftr" sz="quarter" idx="11"/>
          </p:nvPr>
        </p:nvSpPr>
        <p:spPr/>
        <p:txBody>
          <a:bodyPr/>
          <a:lstStyle/>
          <a:p>
            <a:r>
              <a:rPr lang="en-US"/>
              <a:t>PIONEERING GENOMICS TO POSITIVELY IMPACT LIFE</a:t>
            </a:r>
            <a:endParaRPr lang="en-US" dirty="0"/>
          </a:p>
        </p:txBody>
      </p:sp>
      <p:sp>
        <p:nvSpPr>
          <p:cNvPr id="5" name="Slide Number Placeholder 4">
            <a:extLst>
              <a:ext uri="{FF2B5EF4-FFF2-40B4-BE49-F238E27FC236}">
                <a16:creationId xmlns:a16="http://schemas.microsoft.com/office/drawing/2014/main" id="{B3A9F2CC-38CA-14BB-1144-822A8F6C45B8}"/>
              </a:ext>
            </a:extLst>
          </p:cNvPr>
          <p:cNvSpPr>
            <a:spLocks noGrp="1"/>
          </p:cNvSpPr>
          <p:nvPr>
            <p:ph type="sldNum" sz="quarter" idx="12"/>
          </p:nvPr>
        </p:nvSpPr>
        <p:spPr/>
        <p:txBody>
          <a:bodyPr/>
          <a:lstStyle/>
          <a:p>
            <a:fld id="{3568C19F-09C0-6444-9EDB-745BFBB4690D}" type="slidenum">
              <a:rPr lang="en-US" smtClean="0"/>
              <a:pPr/>
              <a:t>4</a:t>
            </a:fld>
            <a:endParaRPr lang="en-US"/>
          </a:p>
        </p:txBody>
      </p:sp>
      <p:sp>
        <p:nvSpPr>
          <p:cNvPr id="6" name="Rectangle 5">
            <a:extLst>
              <a:ext uri="{FF2B5EF4-FFF2-40B4-BE49-F238E27FC236}">
                <a16:creationId xmlns:a16="http://schemas.microsoft.com/office/drawing/2014/main" id="{87FC0579-1F48-3A45-3F33-655AEB0A480F}"/>
              </a:ext>
            </a:extLst>
          </p:cNvPr>
          <p:cNvSpPr/>
          <p:nvPr/>
        </p:nvSpPr>
        <p:spPr>
          <a:xfrm>
            <a:off x="914400" y="0"/>
            <a:ext cx="1869743" cy="452432"/>
          </a:xfrm>
          <a:prstGeom prst="rect">
            <a:avLst/>
          </a:prstGeom>
          <a:solidFill>
            <a:schemeClr val="tx2"/>
          </a:solidFill>
        </p:spPr>
        <p:txBody>
          <a:bodyPr vert="horz" wrap="none" lIns="182880" tIns="109728" rIns="182880" bIns="91440" rtlCol="0" anchor="t" anchorCtr="0">
            <a:spAutoFit/>
          </a:bodyPr>
          <a:lstStyle/>
          <a:p>
            <a:pPr>
              <a:lnSpc>
                <a:spcPct val="90000"/>
              </a:lnSpc>
              <a:spcBef>
                <a:spcPts val="600"/>
              </a:spcBef>
            </a:pPr>
            <a:r>
              <a:rPr lang="en-US" b="1" dirty="0">
                <a:solidFill>
                  <a:srgbClr val="FF0000"/>
                </a:solidFill>
                <a:latin typeface="Roboto" panose="02000000000000000000" pitchFamily="2" charset="0"/>
                <a:ea typeface="Roboto" panose="02000000000000000000" pitchFamily="2" charset="0"/>
              </a:rPr>
              <a:t>    </a:t>
            </a:r>
            <a:r>
              <a:rPr lang="en-US" b="1" dirty="0">
                <a:solidFill>
                  <a:srgbClr val="FF0000"/>
                </a:solidFill>
                <a:highlight>
                  <a:srgbClr val="FF0000"/>
                </a:highlight>
                <a:latin typeface="Roboto" panose="02000000000000000000" pitchFamily="2" charset="0"/>
                <a:ea typeface="Roboto" panose="02000000000000000000" pitchFamily="2" charset="0"/>
              </a:rPr>
              <a:t>               </a:t>
            </a:r>
            <a:r>
              <a:rPr lang="en-US" b="1" dirty="0">
                <a:solidFill>
                  <a:srgbClr val="FF0000"/>
                </a:solidFill>
                <a:latin typeface="Roboto" panose="02000000000000000000" pitchFamily="2" charset="0"/>
                <a:ea typeface="Roboto" panose="02000000000000000000" pitchFamily="2" charset="0"/>
              </a:rPr>
              <a:t>       </a:t>
            </a:r>
          </a:p>
        </p:txBody>
      </p:sp>
      <p:sp>
        <p:nvSpPr>
          <p:cNvPr id="7" name="Rectangle 2">
            <a:extLst>
              <a:ext uri="{FF2B5EF4-FFF2-40B4-BE49-F238E27FC236}">
                <a16:creationId xmlns:a16="http://schemas.microsoft.com/office/drawing/2014/main" id="{8138DAC5-C482-0F18-6E36-337EAAF2C9A4}"/>
              </a:ext>
            </a:extLst>
          </p:cNvPr>
          <p:cNvSpPr>
            <a:spLocks noGrp="1" noChangeArrowheads="1"/>
          </p:cNvSpPr>
          <p:nvPr>
            <p:ph idx="1"/>
          </p:nvPr>
        </p:nvSpPr>
        <p:spPr bwMode="auto">
          <a:xfrm>
            <a:off x="1057275" y="1766117"/>
            <a:ext cx="608647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review of literature is time and resource-intensive.</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Databases lack the latest experimental mutation data.</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Extracting structured biological data from text is complex.</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 false-positive rates in mutation identification.</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Need for scalable, automated, and accurate sequence feature extraction.</a:t>
            </a:r>
          </a:p>
        </p:txBody>
      </p:sp>
      <p:pic>
        <p:nvPicPr>
          <p:cNvPr id="1030" name="Picture 6" descr="Books Everyone Should Read (According to the EduCred Services Team) —  EduCred Services | Higher Education Consultants">
            <a:extLst>
              <a:ext uri="{FF2B5EF4-FFF2-40B4-BE49-F238E27FC236}">
                <a16:creationId xmlns:a16="http://schemas.microsoft.com/office/drawing/2014/main" id="{D3185711-63E2-877C-F42B-B9BABA3C6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0" y="1933574"/>
            <a:ext cx="3750469"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11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3C804-3546-4C80-8468-FA2546BF2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FAA23-2FA7-5ED8-6019-0C97B02E555C}"/>
              </a:ext>
            </a:extLst>
          </p:cNvPr>
          <p:cNvSpPr>
            <a:spLocks noGrp="1"/>
          </p:cNvSpPr>
          <p:nvPr>
            <p:ph type="title"/>
          </p:nvPr>
        </p:nvSpPr>
        <p:spPr>
          <a:xfrm>
            <a:off x="914400" y="561974"/>
            <a:ext cx="9445752" cy="1371600"/>
          </a:xfrm>
        </p:spPr>
        <p:txBody>
          <a:bodyPr>
            <a:normAutofit/>
          </a:bodyPr>
          <a:lstStyle/>
          <a:p>
            <a:r>
              <a:rPr lang="en-US" sz="5400" b="1" u="sng" dirty="0"/>
              <a:t>Methodology</a:t>
            </a:r>
            <a:endParaRPr lang="en-US" b="1" u="sng" dirty="0">
              <a:latin typeface="Roboto" panose="02000000000000000000" pitchFamily="2" charset="0"/>
              <a:ea typeface="Roboto" panose="02000000000000000000" pitchFamily="2" charset="0"/>
            </a:endParaRPr>
          </a:p>
        </p:txBody>
      </p:sp>
      <p:sp>
        <p:nvSpPr>
          <p:cNvPr id="4" name="Footer Placeholder 3">
            <a:extLst>
              <a:ext uri="{FF2B5EF4-FFF2-40B4-BE49-F238E27FC236}">
                <a16:creationId xmlns:a16="http://schemas.microsoft.com/office/drawing/2014/main" id="{AF2405C2-F159-6B23-33A8-4E8F888678EA}"/>
              </a:ext>
            </a:extLst>
          </p:cNvPr>
          <p:cNvSpPr>
            <a:spLocks noGrp="1"/>
          </p:cNvSpPr>
          <p:nvPr>
            <p:ph type="ftr" sz="quarter" idx="11"/>
          </p:nvPr>
        </p:nvSpPr>
        <p:spPr/>
        <p:txBody>
          <a:bodyPr/>
          <a:lstStyle/>
          <a:p>
            <a:r>
              <a:rPr lang="en-US"/>
              <a:t>PIONEERING GENOMICS TO POSITIVELY IMPACT LIFE</a:t>
            </a:r>
            <a:endParaRPr lang="en-US" dirty="0"/>
          </a:p>
        </p:txBody>
      </p:sp>
      <p:sp>
        <p:nvSpPr>
          <p:cNvPr id="5" name="Slide Number Placeholder 4">
            <a:extLst>
              <a:ext uri="{FF2B5EF4-FFF2-40B4-BE49-F238E27FC236}">
                <a16:creationId xmlns:a16="http://schemas.microsoft.com/office/drawing/2014/main" id="{F6A036A0-07FD-3CBE-C638-60B6D5CF10D2}"/>
              </a:ext>
            </a:extLst>
          </p:cNvPr>
          <p:cNvSpPr>
            <a:spLocks noGrp="1"/>
          </p:cNvSpPr>
          <p:nvPr>
            <p:ph type="sldNum" sz="quarter" idx="12"/>
          </p:nvPr>
        </p:nvSpPr>
        <p:spPr/>
        <p:txBody>
          <a:bodyPr/>
          <a:lstStyle/>
          <a:p>
            <a:fld id="{3568C19F-09C0-6444-9EDB-745BFBB4690D}" type="slidenum">
              <a:rPr lang="en-US" smtClean="0"/>
              <a:pPr/>
              <a:t>5</a:t>
            </a:fld>
            <a:endParaRPr lang="en-US"/>
          </a:p>
        </p:txBody>
      </p:sp>
      <p:sp>
        <p:nvSpPr>
          <p:cNvPr id="6" name="Rectangle 5">
            <a:extLst>
              <a:ext uri="{FF2B5EF4-FFF2-40B4-BE49-F238E27FC236}">
                <a16:creationId xmlns:a16="http://schemas.microsoft.com/office/drawing/2014/main" id="{01DB4F32-DC03-5C11-5C73-BE5D0B75A45A}"/>
              </a:ext>
            </a:extLst>
          </p:cNvPr>
          <p:cNvSpPr/>
          <p:nvPr/>
        </p:nvSpPr>
        <p:spPr>
          <a:xfrm>
            <a:off x="914400" y="0"/>
            <a:ext cx="1869743" cy="452432"/>
          </a:xfrm>
          <a:prstGeom prst="rect">
            <a:avLst/>
          </a:prstGeom>
          <a:solidFill>
            <a:schemeClr val="tx2"/>
          </a:solidFill>
        </p:spPr>
        <p:txBody>
          <a:bodyPr vert="horz" wrap="none" lIns="182880" tIns="109728" rIns="182880" bIns="91440" rtlCol="0" anchor="t" anchorCtr="0">
            <a:spAutoFit/>
          </a:bodyPr>
          <a:lstStyle/>
          <a:p>
            <a:pPr>
              <a:lnSpc>
                <a:spcPct val="90000"/>
              </a:lnSpc>
              <a:spcBef>
                <a:spcPts val="600"/>
              </a:spcBef>
            </a:pPr>
            <a:r>
              <a:rPr lang="en-US" b="1" dirty="0">
                <a:solidFill>
                  <a:srgbClr val="FF0000"/>
                </a:solidFill>
                <a:latin typeface="Roboto" panose="02000000000000000000" pitchFamily="2" charset="0"/>
                <a:ea typeface="Roboto" panose="02000000000000000000" pitchFamily="2" charset="0"/>
              </a:rPr>
              <a:t>    </a:t>
            </a:r>
            <a:r>
              <a:rPr lang="en-US" b="1" dirty="0">
                <a:solidFill>
                  <a:srgbClr val="FF0000"/>
                </a:solidFill>
                <a:highlight>
                  <a:srgbClr val="FF0000"/>
                </a:highlight>
                <a:latin typeface="Roboto" panose="02000000000000000000" pitchFamily="2" charset="0"/>
                <a:ea typeface="Roboto" panose="02000000000000000000" pitchFamily="2" charset="0"/>
              </a:rPr>
              <a:t>               </a:t>
            </a:r>
            <a:r>
              <a:rPr lang="en-US" b="1" dirty="0">
                <a:solidFill>
                  <a:srgbClr val="FF0000"/>
                </a:solidFill>
                <a:latin typeface="Roboto" panose="02000000000000000000" pitchFamily="2" charset="0"/>
                <a:ea typeface="Roboto" panose="02000000000000000000" pitchFamily="2" charset="0"/>
              </a:rPr>
              <a:t>       </a:t>
            </a:r>
          </a:p>
        </p:txBody>
      </p:sp>
      <p:sp>
        <p:nvSpPr>
          <p:cNvPr id="8" name="Rectangle 2">
            <a:extLst>
              <a:ext uri="{FF2B5EF4-FFF2-40B4-BE49-F238E27FC236}">
                <a16:creationId xmlns:a16="http://schemas.microsoft.com/office/drawing/2014/main" id="{0F766DA1-69F1-D759-A348-02C31A680AFB}"/>
              </a:ext>
            </a:extLst>
          </p:cNvPr>
          <p:cNvSpPr>
            <a:spLocks noGrp="1" noChangeArrowheads="1"/>
          </p:cNvSpPr>
          <p:nvPr>
            <p:ph idx="1"/>
          </p:nvPr>
        </p:nvSpPr>
        <p:spPr bwMode="auto">
          <a:xfrm>
            <a:off x="914400" y="1868725"/>
            <a:ext cx="64008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PubMed search and retrieval of full-text articles.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of </a:t>
            </a:r>
            <a:r>
              <a:rPr kumimoji="0" lang="en-US" altLang="en-US" sz="1800" b="1" i="0" u="none" strike="noStrike" cap="none" normalizeH="0" baseline="0" dirty="0">
                <a:ln>
                  <a:noFill/>
                </a:ln>
                <a:solidFill>
                  <a:schemeClr val="tx1"/>
                </a:solidFill>
                <a:effectLst/>
                <a:latin typeface="Arial" panose="020B0604020202020204" pitchFamily="34" charset="0"/>
              </a:rPr>
              <a:t>LLMs</a:t>
            </a:r>
            <a:r>
              <a:rPr kumimoji="0" lang="en-US" altLang="en-US" sz="1800" b="0" i="0" u="none" strike="noStrike" cap="none" normalizeH="0" baseline="0" dirty="0">
                <a:ln>
                  <a:noFill/>
                </a:ln>
                <a:solidFill>
                  <a:schemeClr val="tx1"/>
                </a:solidFill>
                <a:effectLst/>
                <a:latin typeface="Arial" panose="020B0604020202020204" pitchFamily="34" charset="0"/>
              </a:rPr>
              <a:t> (Gemini, GPT-4, </a:t>
            </a:r>
            <a:r>
              <a:rPr kumimoji="0" lang="en-US" altLang="en-US" sz="1800" b="0" i="0" u="none" strike="noStrike" cap="none" normalizeH="0" baseline="0" dirty="0" err="1">
                <a:ln>
                  <a:noFill/>
                </a:ln>
                <a:solidFill>
                  <a:schemeClr val="tx1"/>
                </a:solidFill>
                <a:effectLst/>
                <a:latin typeface="Arial" panose="020B0604020202020204" pitchFamily="34" charset="0"/>
              </a:rPr>
              <a:t>LLaMA</a:t>
            </a:r>
            <a:r>
              <a:rPr kumimoji="0" lang="en-US" altLang="en-US" sz="1800" b="0" i="0" u="none" strike="noStrike" cap="none" normalizeH="0" baseline="0" dirty="0">
                <a:ln>
                  <a:noFill/>
                </a:ln>
                <a:solidFill>
                  <a:schemeClr val="tx1"/>
                </a:solidFill>
                <a:effectLst/>
                <a:latin typeface="Arial" panose="020B0604020202020204" pitchFamily="34" charset="0"/>
              </a:rPr>
              <a:t>) for extracting biological entities.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Cleaning and structuring of extracted data (mutations, residue positions).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Rule-based validation using gene names and coordinate ranges.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User-friendly </a:t>
            </a:r>
            <a:r>
              <a:rPr kumimoji="0" lang="en-US" altLang="en-US" sz="1800" b="1" i="0" u="none" strike="noStrike" cap="none" normalizeH="0" baseline="0" dirty="0">
                <a:ln>
                  <a:noFill/>
                </a:ln>
                <a:solidFill>
                  <a:schemeClr val="tx1"/>
                </a:solidFill>
                <a:effectLst/>
                <a:latin typeface="Arial" panose="020B0604020202020204" pitchFamily="34" charset="0"/>
              </a:rPr>
              <a:t>interface</a:t>
            </a:r>
            <a:r>
              <a:rPr kumimoji="0" lang="en-US" altLang="en-US" sz="1800" b="0" i="0" u="none" strike="noStrike" cap="none" normalizeH="0" baseline="0" dirty="0">
                <a:ln>
                  <a:noFill/>
                </a:ln>
                <a:solidFill>
                  <a:schemeClr val="tx1"/>
                </a:solidFill>
                <a:effectLst/>
                <a:latin typeface="Arial" panose="020B0604020202020204" pitchFamily="34" charset="0"/>
              </a:rPr>
              <a:t> for data visualization and download.</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AutoShape 6" descr="Google replaces Assistant and welcomes Gemini AI - We speak IoT">
            <a:extLst>
              <a:ext uri="{FF2B5EF4-FFF2-40B4-BE49-F238E27FC236}">
                <a16:creationId xmlns:a16="http://schemas.microsoft.com/office/drawing/2014/main" id="{D45EA4CB-F767-D664-7CB2-734C1F500A02}"/>
              </a:ext>
            </a:extLst>
          </p:cNvPr>
          <p:cNvSpPr>
            <a:spLocks noChangeAspect="1" noChangeArrowheads="1"/>
          </p:cNvSpPr>
          <p:nvPr/>
        </p:nvSpPr>
        <p:spPr bwMode="auto">
          <a:xfrm>
            <a:off x="5943600" y="-419100"/>
            <a:ext cx="4000500" cy="4000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8" name="Picture 10" descr="Google Gemini — everything you need to know | Tom's Guide">
            <a:extLst>
              <a:ext uri="{FF2B5EF4-FFF2-40B4-BE49-F238E27FC236}">
                <a16:creationId xmlns:a16="http://schemas.microsoft.com/office/drawing/2014/main" id="{F7B3CD99-27A2-804F-32FA-7BBB8F0D0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7116" y="481006"/>
            <a:ext cx="2682798" cy="1885315"/>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Llama 4 by Meta – a New Era of AI (?)">
            <a:extLst>
              <a:ext uri="{FF2B5EF4-FFF2-40B4-BE49-F238E27FC236}">
                <a16:creationId xmlns:a16="http://schemas.microsoft.com/office/drawing/2014/main" id="{662EE21A-B3F9-99C9-0886-7A8E1885C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7116" y="2698997"/>
            <a:ext cx="2682798" cy="1509074"/>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Say hello to GPT4o - In-Depth Review and Insights in the description">
            <a:extLst>
              <a:ext uri="{FF2B5EF4-FFF2-40B4-BE49-F238E27FC236}">
                <a16:creationId xmlns:a16="http://schemas.microsoft.com/office/drawing/2014/main" id="{70C4381A-E4AE-BC17-1BA2-8613E87F94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7116" y="4641098"/>
            <a:ext cx="2682798" cy="1509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01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1B6FB-DA7A-9CDF-3999-301667F98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4B079-80CF-44FF-94C6-1B69315F0832}"/>
              </a:ext>
            </a:extLst>
          </p:cNvPr>
          <p:cNvSpPr>
            <a:spLocks noGrp="1"/>
          </p:cNvSpPr>
          <p:nvPr>
            <p:ph type="title"/>
          </p:nvPr>
        </p:nvSpPr>
        <p:spPr>
          <a:xfrm>
            <a:off x="914400" y="646198"/>
            <a:ext cx="9445752" cy="1371600"/>
          </a:xfrm>
        </p:spPr>
        <p:txBody>
          <a:bodyPr>
            <a:normAutofit/>
          </a:bodyPr>
          <a:lstStyle/>
          <a:p>
            <a:r>
              <a:rPr lang="en-US" sz="5400" b="1" u="sng" dirty="0">
                <a:latin typeface="Roboto" panose="02000000000000000000" pitchFamily="2" charset="0"/>
                <a:ea typeface="Roboto" panose="02000000000000000000" pitchFamily="2" charset="0"/>
              </a:rPr>
              <a:t>Out</a:t>
            </a:r>
            <a:r>
              <a:rPr lang="en-US" sz="5400" b="1" u="sng" dirty="0"/>
              <a:t>come</a:t>
            </a:r>
            <a:endParaRPr lang="en-US" b="1" u="sng" dirty="0">
              <a:latin typeface="Roboto" panose="02000000000000000000" pitchFamily="2" charset="0"/>
              <a:ea typeface="Roboto" panose="02000000000000000000" pitchFamily="2" charset="0"/>
            </a:endParaRPr>
          </a:p>
        </p:txBody>
      </p:sp>
      <p:sp>
        <p:nvSpPr>
          <p:cNvPr id="4" name="Footer Placeholder 3">
            <a:extLst>
              <a:ext uri="{FF2B5EF4-FFF2-40B4-BE49-F238E27FC236}">
                <a16:creationId xmlns:a16="http://schemas.microsoft.com/office/drawing/2014/main" id="{CA560D78-F393-2605-9FA2-BB9A05597DB4}"/>
              </a:ext>
            </a:extLst>
          </p:cNvPr>
          <p:cNvSpPr>
            <a:spLocks noGrp="1"/>
          </p:cNvSpPr>
          <p:nvPr>
            <p:ph type="ftr" sz="quarter" idx="11"/>
          </p:nvPr>
        </p:nvSpPr>
        <p:spPr/>
        <p:txBody>
          <a:bodyPr/>
          <a:lstStyle/>
          <a:p>
            <a:r>
              <a:rPr lang="en-US"/>
              <a:t>PIONEERING GENOMICS TO POSITIVELY IMPACT LIFE</a:t>
            </a:r>
            <a:endParaRPr lang="en-US" dirty="0"/>
          </a:p>
        </p:txBody>
      </p:sp>
      <p:sp>
        <p:nvSpPr>
          <p:cNvPr id="5" name="Slide Number Placeholder 4">
            <a:extLst>
              <a:ext uri="{FF2B5EF4-FFF2-40B4-BE49-F238E27FC236}">
                <a16:creationId xmlns:a16="http://schemas.microsoft.com/office/drawing/2014/main" id="{07A370E9-AD11-FBCD-977E-71652EB5057D}"/>
              </a:ext>
            </a:extLst>
          </p:cNvPr>
          <p:cNvSpPr>
            <a:spLocks noGrp="1"/>
          </p:cNvSpPr>
          <p:nvPr>
            <p:ph type="sldNum" sz="quarter" idx="12"/>
          </p:nvPr>
        </p:nvSpPr>
        <p:spPr/>
        <p:txBody>
          <a:bodyPr/>
          <a:lstStyle/>
          <a:p>
            <a:fld id="{3568C19F-09C0-6444-9EDB-745BFBB4690D}" type="slidenum">
              <a:rPr lang="en-US" smtClean="0"/>
              <a:pPr/>
              <a:t>6</a:t>
            </a:fld>
            <a:endParaRPr lang="en-US"/>
          </a:p>
        </p:txBody>
      </p:sp>
      <p:sp>
        <p:nvSpPr>
          <p:cNvPr id="6" name="Rectangle 5">
            <a:extLst>
              <a:ext uri="{FF2B5EF4-FFF2-40B4-BE49-F238E27FC236}">
                <a16:creationId xmlns:a16="http://schemas.microsoft.com/office/drawing/2014/main" id="{61253B7A-A38D-381D-A645-0F64F150E30E}"/>
              </a:ext>
            </a:extLst>
          </p:cNvPr>
          <p:cNvSpPr/>
          <p:nvPr/>
        </p:nvSpPr>
        <p:spPr>
          <a:xfrm>
            <a:off x="914400" y="0"/>
            <a:ext cx="1869743" cy="452432"/>
          </a:xfrm>
          <a:prstGeom prst="rect">
            <a:avLst/>
          </a:prstGeom>
          <a:solidFill>
            <a:schemeClr val="tx2"/>
          </a:solidFill>
        </p:spPr>
        <p:txBody>
          <a:bodyPr vert="horz" wrap="none" lIns="182880" tIns="109728" rIns="182880" bIns="91440" rtlCol="0" anchor="t" anchorCtr="0">
            <a:spAutoFit/>
          </a:bodyPr>
          <a:lstStyle/>
          <a:p>
            <a:pPr>
              <a:lnSpc>
                <a:spcPct val="90000"/>
              </a:lnSpc>
              <a:spcBef>
                <a:spcPts val="600"/>
              </a:spcBef>
            </a:pPr>
            <a:r>
              <a:rPr lang="en-US" b="1" dirty="0">
                <a:solidFill>
                  <a:srgbClr val="FF0000"/>
                </a:solidFill>
                <a:latin typeface="Roboto" panose="02000000000000000000" pitchFamily="2" charset="0"/>
                <a:ea typeface="Roboto" panose="02000000000000000000" pitchFamily="2" charset="0"/>
              </a:rPr>
              <a:t>    </a:t>
            </a:r>
            <a:r>
              <a:rPr lang="en-US" b="1" dirty="0">
                <a:solidFill>
                  <a:srgbClr val="FF0000"/>
                </a:solidFill>
                <a:highlight>
                  <a:srgbClr val="FF0000"/>
                </a:highlight>
                <a:latin typeface="Roboto" panose="02000000000000000000" pitchFamily="2" charset="0"/>
                <a:ea typeface="Roboto" panose="02000000000000000000" pitchFamily="2" charset="0"/>
              </a:rPr>
              <a:t>               </a:t>
            </a:r>
            <a:r>
              <a:rPr lang="en-US" b="1" dirty="0">
                <a:solidFill>
                  <a:srgbClr val="FF0000"/>
                </a:solidFill>
                <a:latin typeface="Roboto" panose="02000000000000000000" pitchFamily="2" charset="0"/>
                <a:ea typeface="Roboto" panose="02000000000000000000" pitchFamily="2" charset="0"/>
              </a:rPr>
              <a:t>       </a:t>
            </a:r>
          </a:p>
        </p:txBody>
      </p:sp>
      <p:sp>
        <p:nvSpPr>
          <p:cNvPr id="8" name="Rectangle 2">
            <a:extLst>
              <a:ext uri="{FF2B5EF4-FFF2-40B4-BE49-F238E27FC236}">
                <a16:creationId xmlns:a16="http://schemas.microsoft.com/office/drawing/2014/main" id="{5BEEF9A4-3734-2559-2A0A-F12AA9832EC3}"/>
              </a:ext>
            </a:extLst>
          </p:cNvPr>
          <p:cNvSpPr>
            <a:spLocks noGrp="1" noChangeArrowheads="1"/>
          </p:cNvSpPr>
          <p:nvPr>
            <p:ph idx="1"/>
          </p:nvPr>
        </p:nvSpPr>
        <p:spPr bwMode="auto">
          <a:xfrm>
            <a:off x="1838325" y="6356350"/>
            <a:ext cx="6400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4">
            <a:extLst>
              <a:ext uri="{FF2B5EF4-FFF2-40B4-BE49-F238E27FC236}">
                <a16:creationId xmlns:a16="http://schemas.microsoft.com/office/drawing/2014/main" id="{11967689-F2E3-446F-2754-DE8801208309}"/>
              </a:ext>
            </a:extLst>
          </p:cNvPr>
          <p:cNvSpPr>
            <a:spLocks noChangeArrowheads="1"/>
          </p:cNvSpPr>
          <p:nvPr/>
        </p:nvSpPr>
        <p:spPr bwMode="auto">
          <a:xfrm>
            <a:off x="914401" y="1730226"/>
            <a:ext cx="518159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Functional prototype achieving 75–85% accuracy on viral families.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Reduced false positives through multi-layer validation.</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Enhanced database of curated sequence features.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Accelerates outbreak response via rapid literature mining.</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Promotes scalable AI automation for infectious disease research.</a:t>
            </a:r>
          </a:p>
        </p:txBody>
      </p:sp>
      <p:pic>
        <p:nvPicPr>
          <p:cNvPr id="3078" name="Picture 6" descr="NLP vs LLM: A Comprehensive Guide to Understanding Key Differences | by  Slava Vaniukov | Medium">
            <a:extLst>
              <a:ext uri="{FF2B5EF4-FFF2-40B4-BE49-F238E27FC236}">
                <a16:creationId xmlns:a16="http://schemas.microsoft.com/office/drawing/2014/main" id="{710F2AF2-CFCD-8ABE-38F5-E24EF07733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3699" y="2577349"/>
            <a:ext cx="3886200"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467453"/>
      </p:ext>
    </p:extLst>
  </p:cSld>
  <p:clrMapOvr>
    <a:masterClrMapping/>
  </p:clrMapOvr>
</p:sld>
</file>

<file path=ppt/theme/theme1.xml><?xml version="1.0" encoding="utf-8"?>
<a:theme xmlns:a="http://schemas.openxmlformats.org/drawingml/2006/main" name="Office Theme">
  <a:themeElements>
    <a:clrScheme name="JCVI 191013">
      <a:dk1>
        <a:srgbClr val="000000"/>
      </a:dk1>
      <a:lt1>
        <a:srgbClr val="FFFFFF"/>
      </a:lt1>
      <a:dk2>
        <a:srgbClr val="408BC8"/>
      </a:dk2>
      <a:lt2>
        <a:srgbClr val="EEEDEA"/>
      </a:lt2>
      <a:accent1>
        <a:srgbClr val="EE503C"/>
      </a:accent1>
      <a:accent2>
        <a:srgbClr val="EFC636"/>
      </a:accent2>
      <a:accent3>
        <a:srgbClr val="4CA558"/>
      </a:accent3>
      <a:accent4>
        <a:srgbClr val="408BC8"/>
      </a:accent4>
      <a:accent5>
        <a:srgbClr val="78281E"/>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59091DB2899340A5C56D7FE5459990" ma:contentTypeVersion="11" ma:contentTypeDescription="Create a new document." ma:contentTypeScope="" ma:versionID="37e2d339a8866937768df844fe32913b">
  <xsd:schema xmlns:xsd="http://www.w3.org/2001/XMLSchema" xmlns:xs="http://www.w3.org/2001/XMLSchema" xmlns:p="http://schemas.microsoft.com/office/2006/metadata/properties" xmlns:ns2="627ef79f-d022-4803-9cfd-37805cf70166" xmlns:ns3="78781865-c1ff-4a90-9f99-c5699024a2f8" targetNamespace="http://schemas.microsoft.com/office/2006/metadata/properties" ma:root="true" ma:fieldsID="aec9a9de948aca353406733345e9f9a9" ns2:_="" ns3:_="">
    <xsd:import namespace="627ef79f-d022-4803-9cfd-37805cf70166"/>
    <xsd:import namespace="78781865-c1ff-4a90-9f99-c5699024a2f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7ef79f-d022-4803-9cfd-37805cf701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8781865-c1ff-4a90-9f99-c5699024a2f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6C284E5-25FB-4BA6-8520-F8F493FE3D6F}">
  <ds:schemaRefs>
    <ds:schemaRef ds:uri="627ef79f-d022-4803-9cfd-37805cf70166"/>
    <ds:schemaRef ds:uri="78781865-c1ff-4a90-9f99-c5699024a2f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9F54DDA-33B0-46C5-BE36-01A5272A3F8E}">
  <ds:schemaRefs>
    <ds:schemaRef ds:uri="http://schemas.microsoft.com/sharepoint/v3/contenttype/forms"/>
  </ds:schemaRefs>
</ds:datastoreItem>
</file>

<file path=customXml/itemProps3.xml><?xml version="1.0" encoding="utf-8"?>
<ds:datastoreItem xmlns:ds="http://schemas.openxmlformats.org/officeDocument/2006/customXml" ds:itemID="{046F3E4A-F4DB-4E49-B0AE-E27A2300B206}">
  <ds:schemaRefs>
    <ds:schemaRef ds:uri="http://purl.org/dc/dcmitype/"/>
    <ds:schemaRef ds:uri="http://schemas.microsoft.com/office/2006/documentManagement/types"/>
    <ds:schemaRef ds:uri="http://purl.org/dc/terms/"/>
    <ds:schemaRef ds:uri="http://schemas.microsoft.com/office/2006/metadata/properties"/>
    <ds:schemaRef ds:uri="http://purl.org/dc/elements/1.1/"/>
    <ds:schemaRef ds:uri="http://www.w3.org/XML/1998/namespace"/>
    <ds:schemaRef ds:uri="78781865-c1ff-4a90-9f99-c5699024a2f8"/>
    <ds:schemaRef ds:uri="http://schemas.microsoft.com/office/infopath/2007/PartnerControls"/>
    <ds:schemaRef ds:uri="http://schemas.openxmlformats.org/package/2006/metadata/core-properties"/>
    <ds:schemaRef ds:uri="627ef79f-d022-4803-9cfd-37805cf70166"/>
  </ds:schemaRefs>
</ds:datastoreItem>
</file>

<file path=docProps/app.xml><?xml version="1.0" encoding="utf-8"?>
<Properties xmlns="http://schemas.openxmlformats.org/officeDocument/2006/extended-properties" xmlns:vt="http://schemas.openxmlformats.org/officeDocument/2006/docPropsVTypes">
  <Template/>
  <TotalTime>5451</TotalTime>
  <Words>378</Words>
  <Application>Microsoft Office PowerPoint</Application>
  <PresentationFormat>Widescreen</PresentationFormat>
  <Paragraphs>50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Roboto</vt:lpstr>
      <vt:lpstr>Wingdings</vt:lpstr>
      <vt:lpstr>Office Theme</vt:lpstr>
      <vt:lpstr>Pubmed Miner – AI Tool to Extract Sequence Features </vt:lpstr>
      <vt:lpstr>Introduction</vt:lpstr>
      <vt:lpstr>Importance of Sequence Features</vt:lpstr>
      <vt:lpstr>Challenges &amp; Motivation</vt:lpstr>
      <vt:lpstr>Methodology</vt:lpstr>
      <vt:lpstr>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Pioneering Genomics to Positively Impact Life</dc:title>
  <dc:creator>Kowalski, Heather</dc:creator>
  <cp:lastModifiedBy>Deshmukh, Shubham</cp:lastModifiedBy>
  <cp:revision>45</cp:revision>
  <dcterms:modified xsi:type="dcterms:W3CDTF">2025-11-05T15:24:30Z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0x010100B659091DB2899340A5C56D7FE5459990</vt:lpwstr>
  </property>
</Properties>
</file>